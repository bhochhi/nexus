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positioning this as an operating model, not only a staffing request.
The message is: the platform is reusable, capabilities scale independently, and AI COE enables teams without becoming the bottleneck.
Reassure leadership that this proposal keeps execution governed while improving delivery speed and member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the staffing question correctly. We are not asking for one large chatbot team.
We are proposing parallel workstreams: a core platform team, capability teams, evaluation and observability, cloud operations, and AI COE enablement.
The business value is scale: once the platform and development workflow exist, multiple capabilities can move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important new framing from today. There are two agentic stories.
The first is development-time: AI helps write specs, implementation, tests, and validation assets.
The second is runtime: AI helps understand the member objective and orchestrate the right capability safely.
This separation helps leadership see that AI is not only in the chatbot; AI is also changing how we build and validate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who needs to participate without turning the AI COE into the delivery bottleneck.
Platform runtime builds the shared engine. Capability pods build business capabilities. Business owns the what and acceptance.
AI Quality and Observability are not afterthoughts; they are workstreams from day one.
AI COE is shown as an enablement layer across all teams: standards, patterns, coaching, and governance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leadership asks how many people are needed.
Do not present a single headcount number first. Present workstreams and the scaling model.
Team sizes are indicative. The core platform must be stable; capability pods can be added or removed based on business demand.
The key message is that some teams start immediately while capability pods ramp after a platform baseline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visual. The organization becomes a capability factory.
Business defines the objective and acceptance criteria. The development-time AI workflow helps convert that into a spec, implementation, tests, and validation.
A capability is not published into runtime until it passes evaluation gates.
Production metrics feed back into specs and tests, creating continuous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runtime is the shared engine. It should not be modified for every new business capability.
This team owns the reusable components: orchestration, state, model abstraction, capability runtime, response composition, guardrails, and integration contracts.
This is also where we keep vendor neutrality: OpenAI may be the first adapter, but platform components do not directly depend on a specific inference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business becomes part of delivery without needing to code.
Capabilities are not just prompts. They have conversation contracts, execution contracts, response contracts, policies, and tests.
The platform team provides the runtime; capability pods bring business capabilities into that runtime using standardized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addresses the new concern from today: development-time agentic is different from runtime agentic.
The Copilot or Codex-like agent should be treated as part of the developer platform. It helps create specifications, code, and tests, then validates implementation against the spec.
This is how teams move faster without abandoning engineering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for protecting your existing QA team and evolving their role.
AI quality is not only functional testing. It is behavior evaluation over many conversation patterns.
This workstream owns repeatable conversation regression suites, golden scenarios, synthetic conversations, prompt/version evaluation, and production quality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conversational AI platform cannot be managed only by uptime and logs.
Leadership needs outcome metrics: completion rate, fallback rate, escalation, cost per completed objective, response compliance, and quality trends over time.
We should instrument from day one, even if dashboards mature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COE should not become the team that everyone waits on.
Their highest-value role is enablement: standards, reusable assets, review patterns, training, and model/vendor guidance.
The platform and product teams must still own the outcomes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making this sound like one big-bang date.
Use waves. Wave 1 proves the reusable platform and development workflow. Wave 2 moves into production and expands capabilities. Wave 3 scales the factory model.
These ranges are planning estimates and should be refined after backlog sizing and integration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leadership options without overcommitting to one number before detailed planning.
The important model is modular funding: core platform is stable; capability pods scale with business demand.
The enterprise launch option is a realistic target if the organization wants production readiness rather than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specific ask, not a generic vision.
The ask is to fund the foundation, launch the first capability pod, and stand up quality/observability as part of the initial release—not later.
This is where you reinforce: build platform once, build capabilities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Text 1"/>
          <p:cNvSpPr/>
          <p:nvPr/>
        </p:nvSpPr>
        <p:spPr>
          <a:xfrm>
            <a:off x="658368" y="1298448"/>
            <a:ext cx="9875520" cy="548640"/>
          </a:xfrm>
          <a:prstGeom prst="rect">
            <a:avLst/>
          </a:prstGeom>
          <a:noFill/>
          <a:ln/>
        </p:spPr>
        <p:txBody>
          <a:bodyPr wrap="square" lIns="0" tIns="0" rIns="0" bIns="0" rtlCol="0" anchor="ctr">
            <a:normAutofit/>
          </a:bodyPr>
          <a:lstStyle/>
          <a:p>
            <a:pPr indent="0" marL="0">
              <a:buNone/>
            </a:pPr>
            <a:r>
              <a:rPr lang="en-US" sz="3500" b="1" dirty="0">
                <a:solidFill>
                  <a:srgbClr val="0F172A"/>
                </a:solidFill>
              </a:rPr>
              <a:t>Enterprise Conversational AI Platform</a:t>
            </a:r>
            <a:endParaRPr lang="en-US" sz="3500" dirty="0"/>
          </a:p>
        </p:txBody>
      </p:sp>
      <p:sp>
        <p:nvSpPr>
          <p:cNvPr id="4" name="Text 2"/>
          <p:cNvSpPr/>
          <p:nvPr/>
        </p:nvSpPr>
        <p:spPr>
          <a:xfrm>
            <a:off x="685800" y="1965960"/>
            <a:ext cx="8778240" cy="310896"/>
          </a:xfrm>
          <a:prstGeom prst="rect">
            <a:avLst/>
          </a:prstGeom>
          <a:noFill/>
          <a:ln/>
        </p:spPr>
        <p:txBody>
          <a:bodyPr wrap="square" lIns="0" tIns="0" rIns="0" bIns="0" rtlCol="0" anchor="ctr"/>
          <a:lstStyle/>
          <a:p>
            <a:pPr indent="0" marL="0">
              <a:buNone/>
            </a:pPr>
            <a:r>
              <a:rPr lang="en-US" sz="1800" dirty="0">
                <a:solidFill>
                  <a:srgbClr val="475569"/>
                </a:solidFill>
              </a:rPr>
              <a:t>Operating Model, Workstreams, and Delivery Plan</a:t>
            </a:r>
            <a:endParaRPr lang="en-US" sz="1800" dirty="0"/>
          </a:p>
        </p:txBody>
      </p:sp>
      <p:sp>
        <p:nvSpPr>
          <p:cNvPr id="5" name="Text 3"/>
          <p:cNvSpPr/>
          <p:nvPr/>
        </p:nvSpPr>
        <p:spPr>
          <a:xfrm>
            <a:off x="685800" y="2578608"/>
            <a:ext cx="8138160" cy="658368"/>
          </a:xfrm>
          <a:prstGeom prst="rect">
            <a:avLst/>
          </a:prstGeom>
          <a:noFill/>
          <a:ln/>
        </p:spPr>
        <p:txBody>
          <a:bodyPr wrap="square" lIns="0" tIns="0" rIns="0" bIns="0" rtlCol="0" anchor="ctr">
            <a:normAutofit/>
          </a:bodyPr>
          <a:lstStyle/>
          <a:p>
            <a:pPr indent="0" marL="0">
              <a:buNone/>
            </a:pPr>
            <a:r>
              <a:rPr lang="en-US" sz="1500" dirty="0">
                <a:solidFill>
                  <a:srgbClr val="475569"/>
                </a:solidFill>
              </a:rPr>
              <a:t>How business, platform, capability teams, AI Quality, Operations, and AI COE work together to scale agentic conversational delivery.</a:t>
            </a:r>
            <a:endParaRPr lang="en-US" sz="1500" dirty="0"/>
          </a:p>
        </p:txBody>
      </p:sp>
      <p:sp>
        <p:nvSpPr>
          <p:cNvPr id="6" name="Text 4"/>
          <p:cNvSpPr/>
          <p:nvPr/>
        </p:nvSpPr>
        <p:spPr>
          <a:xfrm>
            <a:off x="713232" y="3730752"/>
            <a:ext cx="2560320" cy="658368"/>
          </a:xfrm>
          <a:prstGeom prst="roundRect">
            <a:avLst>
              <a:gd name="adj" fmla="val 11111"/>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300" b="1" dirty="0">
                <a:solidFill>
                  <a:srgbClr val="17365D"/>
                </a:solidFill>
              </a:rPr>
              <a:t>Business owns the what</a:t>
            </a:r>
            <a:endParaRPr lang="en-US" sz="1300" dirty="0"/>
          </a:p>
        </p:txBody>
      </p:sp>
      <p:sp>
        <p:nvSpPr>
          <p:cNvPr id="7" name="Text 5"/>
          <p:cNvSpPr/>
          <p:nvPr/>
        </p:nvSpPr>
        <p:spPr>
          <a:xfrm>
            <a:off x="3566160" y="3730752"/>
            <a:ext cx="2788920" cy="658368"/>
          </a:xfrm>
          <a:prstGeom prst="roundRect">
            <a:avLst>
              <a:gd name="adj" fmla="val 11111"/>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300" b="1" dirty="0">
                <a:solidFill>
                  <a:srgbClr val="0F766E"/>
                </a:solidFill>
              </a:rPr>
              <a:t>Platform owns the runtime</a:t>
            </a:r>
            <a:endParaRPr lang="en-US" sz="1300" dirty="0"/>
          </a:p>
        </p:txBody>
      </p:sp>
      <p:sp>
        <p:nvSpPr>
          <p:cNvPr id="8" name="Text 6"/>
          <p:cNvSpPr/>
          <p:nvPr/>
        </p:nvSpPr>
        <p:spPr>
          <a:xfrm>
            <a:off x="6647688" y="3730752"/>
            <a:ext cx="2651760" cy="658368"/>
          </a:xfrm>
          <a:prstGeom prst="roundRect">
            <a:avLst>
              <a:gd name="adj" fmla="val 11111"/>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300" b="1" dirty="0">
                <a:solidFill>
                  <a:srgbClr val="7C3AED"/>
                </a:solidFill>
              </a:rPr>
              <a:t>AI accelerates delivery</a:t>
            </a:r>
            <a:endParaRPr lang="en-US" sz="1300" dirty="0"/>
          </a:p>
        </p:txBody>
      </p:sp>
      <p:sp>
        <p:nvSpPr>
          <p:cNvPr id="9" name="Text 7"/>
          <p:cNvSpPr/>
          <p:nvPr/>
        </p:nvSpPr>
        <p:spPr>
          <a:xfrm>
            <a:off x="9582912" y="3730752"/>
            <a:ext cx="1965960" cy="658368"/>
          </a:xfrm>
          <a:prstGeom prst="roundRect">
            <a:avLst>
              <a:gd name="adj" fmla="val 11111"/>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300" b="1" dirty="0">
                <a:solidFill>
                  <a:srgbClr val="EA580C"/>
                </a:solidFill>
              </a:rPr>
              <a:t>Quality governs release</a:t>
            </a:r>
            <a:endParaRPr lang="en-US" sz="1300" dirty="0"/>
          </a:p>
        </p:txBody>
      </p:sp>
      <p:sp>
        <p:nvSpPr>
          <p:cNvPr id="10" name="Text 8"/>
          <p:cNvSpPr/>
          <p:nvPr/>
        </p:nvSpPr>
        <p:spPr>
          <a:xfrm>
            <a:off x="713232" y="5989320"/>
            <a:ext cx="2286000" cy="228600"/>
          </a:xfrm>
          <a:prstGeom prst="rect">
            <a:avLst/>
          </a:prstGeom>
          <a:noFill/>
          <a:ln/>
        </p:spPr>
        <p:txBody>
          <a:bodyPr wrap="square" lIns="0" tIns="0" rIns="0" bIns="0" rtlCol="0" anchor="ctr"/>
          <a:lstStyle/>
          <a:p>
            <a:pPr indent="0" marL="0">
              <a:buNone/>
            </a:pPr>
            <a:r>
              <a:rPr lang="en-US" sz="1000" dirty="0">
                <a:solidFill>
                  <a:srgbClr val="64748B"/>
                </a:solidFill>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WHY CHANGE</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Why this cannot be delivered like a traditional chatbot project</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685800" y="1508760"/>
            <a:ext cx="4846320" cy="457200"/>
          </a:xfrm>
          <a:prstGeom prst="roundRect">
            <a:avLst>
              <a:gd name="adj" fmla="val 16000"/>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600" b="1" dirty="0">
                <a:solidFill>
                  <a:srgbClr val="0F172A"/>
                </a:solidFill>
              </a:rPr>
              <a:t>Traditional delivery model</a:t>
            </a:r>
            <a:endParaRPr lang="en-US" sz="1600" dirty="0"/>
          </a:p>
        </p:txBody>
      </p:sp>
      <p:sp>
        <p:nvSpPr>
          <p:cNvPr id="6" name="Text 4"/>
          <p:cNvSpPr/>
          <p:nvPr/>
        </p:nvSpPr>
        <p:spPr>
          <a:xfrm>
            <a:off x="685800" y="2148840"/>
            <a:ext cx="4846320" cy="914400"/>
          </a:xfrm>
          <a:prstGeom prst="roundRect">
            <a:avLst>
              <a:gd name="adj" fmla="val 8000"/>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500" dirty="0">
                <a:solidFill>
                  <a:srgbClr val="0F172A"/>
                </a:solidFill>
              </a:rPr>
              <a:t>One team builds intents, slots, prompts, code hooks, tests, and releases</a:t>
            </a:r>
            <a:endParaRPr lang="en-US" sz="1500" dirty="0"/>
          </a:p>
        </p:txBody>
      </p:sp>
      <p:sp>
        <p:nvSpPr>
          <p:cNvPr id="7" name="Text 5"/>
          <p:cNvSpPr/>
          <p:nvPr/>
        </p:nvSpPr>
        <p:spPr>
          <a:xfrm>
            <a:off x="685800" y="3493008"/>
            <a:ext cx="4846320" cy="411480"/>
          </a:xfrm>
          <a:prstGeom prst="roundRect">
            <a:avLst>
              <a:gd name="adj" fmla="val 17778"/>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400" b="1" dirty="0">
                <a:solidFill>
                  <a:srgbClr val="EA580C"/>
                </a:solidFill>
              </a:rPr>
              <a:t>Scaling problem</a:t>
            </a:r>
            <a:endParaRPr lang="en-US" sz="1400" dirty="0"/>
          </a:p>
        </p:txBody>
      </p:sp>
      <p:sp>
        <p:nvSpPr>
          <p:cNvPr id="8" name="Text 6"/>
          <p:cNvSpPr/>
          <p:nvPr/>
        </p:nvSpPr>
        <p:spPr>
          <a:xfrm>
            <a:off x="868680" y="4041648"/>
            <a:ext cx="4480560" cy="1280160"/>
          </a:xfrm>
          <a:prstGeom prst="rect">
            <a:avLst/>
          </a:prstGeom>
          <a:noFill/>
          <a:ln/>
        </p:spPr>
        <p:txBody>
          <a:bodyPr wrap="square" lIns="508" tIns="508" rIns="508" bIns="508" rtlCol="0" anchor="ctr">
            <a:normAutofit/>
          </a:bodyPr>
          <a:lstStyle/>
          <a:p>
            <a:r>
              <a:rPr lang="en-US" sz="1260" dirty="0">
                <a:solidFill>
                  <a:srgbClr val="0F172A"/>
                </a:solidFill>
              </a:rPr>
              <a:t>Every new capability competes for the same delivery capacity</a:t>
            </a:r>
            <a:endParaRPr lang="en-US" sz="1260" dirty="0"/>
          </a:p>
          <a:p>
            <a:r>
              <a:rPr lang="en-US" sz="1260" dirty="0">
                <a:solidFill>
                  <a:srgbClr val="0F172A"/>
                </a:solidFill>
              </a:rPr>
              <a:t>QA validates scripted paths after implementation</a:t>
            </a:r>
            <a:endParaRPr lang="en-US" sz="1260" dirty="0"/>
          </a:p>
          <a:p>
            <a:r>
              <a:rPr lang="en-US" sz="1260" dirty="0">
                <a:solidFill>
                  <a:srgbClr val="0F172A"/>
                </a:solidFill>
              </a:rPr>
              <a:t>Conversation defects appear late and are hard to reproduce</a:t>
            </a:r>
            <a:endParaRPr lang="en-US" sz="1260" dirty="0"/>
          </a:p>
        </p:txBody>
      </p:sp>
      <p:sp>
        <p:nvSpPr>
          <p:cNvPr id="9" name="Text 7"/>
          <p:cNvSpPr/>
          <p:nvPr/>
        </p:nvSpPr>
        <p:spPr>
          <a:xfrm>
            <a:off x="6629400" y="1508760"/>
            <a:ext cx="4846320" cy="457200"/>
          </a:xfrm>
          <a:prstGeom prst="roundRect">
            <a:avLst>
              <a:gd name="adj" fmla="val 16000"/>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600" b="1" dirty="0">
                <a:solidFill>
                  <a:srgbClr val="17365D"/>
                </a:solidFill>
              </a:rPr>
              <a:t>Target delivery model</a:t>
            </a:r>
            <a:endParaRPr lang="en-US" sz="1600" dirty="0"/>
          </a:p>
        </p:txBody>
      </p:sp>
      <p:sp>
        <p:nvSpPr>
          <p:cNvPr id="10" name="Text 8"/>
          <p:cNvSpPr/>
          <p:nvPr/>
        </p:nvSpPr>
        <p:spPr>
          <a:xfrm>
            <a:off x="6629400" y="2148840"/>
            <a:ext cx="4846320" cy="914400"/>
          </a:xfrm>
          <a:prstGeom prst="roundRect">
            <a:avLst>
              <a:gd name="adj" fmla="val 8000"/>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500" dirty="0">
                <a:solidFill>
                  <a:srgbClr val="0F172A"/>
                </a:solidFill>
              </a:rPr>
              <a:t>A reusable platform plus parallel capability teams, guided by specs, evaluations, and shared standards</a:t>
            </a:r>
            <a:endParaRPr lang="en-US" sz="1500" dirty="0"/>
          </a:p>
        </p:txBody>
      </p:sp>
      <p:sp>
        <p:nvSpPr>
          <p:cNvPr id="11" name="Text 9"/>
          <p:cNvSpPr/>
          <p:nvPr/>
        </p:nvSpPr>
        <p:spPr>
          <a:xfrm>
            <a:off x="6629400" y="3493008"/>
            <a:ext cx="4846320" cy="411480"/>
          </a:xfrm>
          <a:prstGeom prst="roundRect">
            <a:avLst>
              <a:gd name="adj" fmla="val 17778"/>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400" b="1" dirty="0">
                <a:solidFill>
                  <a:srgbClr val="0F766E"/>
                </a:solidFill>
              </a:rPr>
              <a:t>Scaling pattern</a:t>
            </a:r>
            <a:endParaRPr lang="en-US" sz="1400" dirty="0"/>
          </a:p>
        </p:txBody>
      </p:sp>
      <p:sp>
        <p:nvSpPr>
          <p:cNvPr id="12" name="Text 10"/>
          <p:cNvSpPr/>
          <p:nvPr/>
        </p:nvSpPr>
        <p:spPr>
          <a:xfrm>
            <a:off x="6812280" y="4041648"/>
            <a:ext cx="4480560" cy="1280160"/>
          </a:xfrm>
          <a:prstGeom prst="rect">
            <a:avLst/>
          </a:prstGeom>
          <a:noFill/>
          <a:ln/>
        </p:spPr>
        <p:txBody>
          <a:bodyPr wrap="square" lIns="508" tIns="508" rIns="508" bIns="508" rtlCol="0" anchor="ctr">
            <a:normAutofit/>
          </a:bodyPr>
          <a:lstStyle/>
          <a:p>
            <a:r>
              <a:rPr lang="en-US" sz="1260" dirty="0">
                <a:solidFill>
                  <a:srgbClr val="0F172A"/>
                </a:solidFill>
              </a:rPr>
              <a:t>Build the platform once; build capabilities many times</a:t>
            </a:r>
            <a:endParaRPr lang="en-US" sz="1260" dirty="0"/>
          </a:p>
          <a:p>
            <a:r>
              <a:rPr lang="en-US" sz="1260" dirty="0">
                <a:solidFill>
                  <a:srgbClr val="0F172A"/>
                </a:solidFill>
              </a:rPr>
              <a:t>Business participates at specification and acceptance stages</a:t>
            </a:r>
            <a:endParaRPr lang="en-US" sz="1260" dirty="0"/>
          </a:p>
          <a:p>
            <a:r>
              <a:rPr lang="en-US" sz="1260" dirty="0">
                <a:solidFill>
                  <a:srgbClr val="0F172A"/>
                </a:solidFill>
              </a:rPr>
              <a:t>Evaluation and observability run from day one</a:t>
            </a:r>
            <a:endParaRPr lang="en-US" sz="1260" dirty="0"/>
          </a:p>
        </p:txBody>
      </p:sp>
      <p:sp>
        <p:nvSpPr>
          <p:cNvPr id="13" name="Text 11"/>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4" name="Text 12"/>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CORE FRAMING</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Two agentic systems must work together</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685800" y="1325880"/>
            <a:ext cx="5120640" cy="274320"/>
          </a:xfrm>
          <a:prstGeom prst="rect">
            <a:avLst/>
          </a:prstGeom>
          <a:noFill/>
          <a:ln/>
        </p:spPr>
        <p:txBody>
          <a:bodyPr wrap="square" lIns="0" tIns="0" rIns="0" bIns="0" rtlCol="0" anchor="ctr"/>
          <a:lstStyle/>
          <a:p>
            <a:pPr indent="0" marL="0">
              <a:buNone/>
            </a:pPr>
            <a:r>
              <a:rPr lang="en-US" sz="1700" b="1" dirty="0">
                <a:solidFill>
                  <a:srgbClr val="7C3AED"/>
                </a:solidFill>
              </a:rPr>
              <a:t>Development-time agentic workflow</a:t>
            </a:r>
            <a:endParaRPr lang="en-US" sz="1700" dirty="0"/>
          </a:p>
        </p:txBody>
      </p:sp>
      <p:sp>
        <p:nvSpPr>
          <p:cNvPr id="6" name="Text 4"/>
          <p:cNvSpPr/>
          <p:nvPr/>
        </p:nvSpPr>
        <p:spPr>
          <a:xfrm>
            <a:off x="6583680" y="1325880"/>
            <a:ext cx="5029200" cy="274320"/>
          </a:xfrm>
          <a:prstGeom prst="rect">
            <a:avLst/>
          </a:prstGeom>
          <a:noFill/>
          <a:ln/>
        </p:spPr>
        <p:txBody>
          <a:bodyPr wrap="square" lIns="0" tIns="0" rIns="0" bIns="0" rtlCol="0" anchor="ctr"/>
          <a:lstStyle/>
          <a:p>
            <a:pPr indent="0" marL="0">
              <a:buNone/>
            </a:pPr>
            <a:r>
              <a:rPr lang="en-US" sz="1700" b="1" dirty="0">
                <a:solidFill>
                  <a:srgbClr val="0F766E"/>
                </a:solidFill>
              </a:rPr>
              <a:t>Runtime agentic conversation</a:t>
            </a:r>
            <a:endParaRPr lang="en-US" sz="1700" dirty="0"/>
          </a:p>
        </p:txBody>
      </p:sp>
      <p:sp>
        <p:nvSpPr>
          <p:cNvPr id="7" name="Text 5"/>
          <p:cNvSpPr/>
          <p:nvPr/>
        </p:nvSpPr>
        <p:spPr>
          <a:xfrm>
            <a:off x="777240" y="1965960"/>
            <a:ext cx="1783080" cy="685800"/>
          </a:xfrm>
          <a:prstGeom prst="roundRect">
            <a:avLst>
              <a:gd name="adj" fmla="val 10667"/>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180" b="1" dirty="0">
                <a:solidFill>
                  <a:srgbClr val="17365D"/>
                </a:solidFill>
              </a:rPr>
              <a:t>Business input</a:t>
            </a:r>
            <a:endParaRPr lang="en-US" sz="1180" dirty="0"/>
          </a:p>
        </p:txBody>
      </p:sp>
      <p:sp>
        <p:nvSpPr>
          <p:cNvPr id="8" name="Shape 6"/>
          <p:cNvSpPr/>
          <p:nvPr/>
        </p:nvSpPr>
        <p:spPr>
          <a:xfrm>
            <a:off x="2560320" y="2304288"/>
            <a:ext cx="365760" cy="0"/>
          </a:xfrm>
          <a:prstGeom prst="line">
            <a:avLst/>
          </a:prstGeom>
          <a:noFill/>
          <a:ln w="15240">
            <a:solidFill>
              <a:srgbClr val="7C3AED"/>
            </a:solidFill>
            <a:prstDash val="solid"/>
            <a:headEnd type="none"/>
            <a:tailEnd type="triangle"/>
          </a:ln>
        </p:spPr>
      </p:sp>
      <p:sp>
        <p:nvSpPr>
          <p:cNvPr id="9" name="Text 7"/>
          <p:cNvSpPr/>
          <p:nvPr/>
        </p:nvSpPr>
        <p:spPr>
          <a:xfrm>
            <a:off x="2926080" y="1965960"/>
            <a:ext cx="1783080" cy="685800"/>
          </a:xfrm>
          <a:prstGeom prst="roundRect">
            <a:avLst>
              <a:gd name="adj" fmla="val 10667"/>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180" b="1" dirty="0">
                <a:solidFill>
                  <a:srgbClr val="7C3AED"/>
                </a:solidFill>
              </a:rPr>
              <a:t>Capability spec</a:t>
            </a:r>
            <a:endParaRPr lang="en-US" sz="1180" dirty="0"/>
          </a:p>
        </p:txBody>
      </p:sp>
      <p:sp>
        <p:nvSpPr>
          <p:cNvPr id="10" name="Shape 8"/>
          <p:cNvSpPr/>
          <p:nvPr/>
        </p:nvSpPr>
        <p:spPr>
          <a:xfrm>
            <a:off x="4709160" y="2304288"/>
            <a:ext cx="365760" cy="0"/>
          </a:xfrm>
          <a:prstGeom prst="line">
            <a:avLst/>
          </a:prstGeom>
          <a:noFill/>
          <a:ln w="15240">
            <a:solidFill>
              <a:srgbClr val="7C3AED"/>
            </a:solidFill>
            <a:prstDash val="solid"/>
            <a:headEnd type="none"/>
            <a:tailEnd type="triangle"/>
          </a:ln>
        </p:spPr>
      </p:sp>
      <p:sp>
        <p:nvSpPr>
          <p:cNvPr id="11" name="Text 9"/>
          <p:cNvSpPr/>
          <p:nvPr/>
        </p:nvSpPr>
        <p:spPr>
          <a:xfrm>
            <a:off x="5074920" y="1965960"/>
            <a:ext cx="1783080" cy="685800"/>
          </a:xfrm>
          <a:prstGeom prst="roundRect">
            <a:avLst>
              <a:gd name="adj" fmla="val 10667"/>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180" b="1" dirty="0">
                <a:solidFill>
                  <a:srgbClr val="7C3AED"/>
                </a:solidFill>
              </a:rPr>
              <a:t>AI dev agent</a:t>
            </a:r>
            <a:endParaRPr lang="en-US" sz="1180" dirty="0"/>
          </a:p>
        </p:txBody>
      </p:sp>
      <p:sp>
        <p:nvSpPr>
          <p:cNvPr id="12" name="Shape 10"/>
          <p:cNvSpPr/>
          <p:nvPr/>
        </p:nvSpPr>
        <p:spPr>
          <a:xfrm>
            <a:off x="6858000" y="2304288"/>
            <a:ext cx="365760" cy="0"/>
          </a:xfrm>
          <a:prstGeom prst="line">
            <a:avLst/>
          </a:prstGeom>
          <a:noFill/>
          <a:ln w="15240">
            <a:solidFill>
              <a:srgbClr val="7C3AED"/>
            </a:solidFill>
            <a:prstDash val="solid"/>
            <a:headEnd type="none"/>
            <a:tailEnd type="triangle"/>
          </a:ln>
        </p:spPr>
      </p:sp>
      <p:sp>
        <p:nvSpPr>
          <p:cNvPr id="13" name="Text 11"/>
          <p:cNvSpPr/>
          <p:nvPr/>
        </p:nvSpPr>
        <p:spPr>
          <a:xfrm>
            <a:off x="7223760" y="1965960"/>
            <a:ext cx="1783080" cy="685800"/>
          </a:xfrm>
          <a:prstGeom prst="roundRect">
            <a:avLst>
              <a:gd name="adj" fmla="val 10667"/>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180" dirty="0">
                <a:solidFill>
                  <a:srgbClr val="0F172A"/>
                </a:solidFill>
              </a:rPr>
              <a:t>Implementation + tests</a:t>
            </a:r>
            <a:endParaRPr lang="en-US" sz="1180" dirty="0"/>
          </a:p>
        </p:txBody>
      </p:sp>
      <p:sp>
        <p:nvSpPr>
          <p:cNvPr id="14" name="Shape 12"/>
          <p:cNvSpPr/>
          <p:nvPr/>
        </p:nvSpPr>
        <p:spPr>
          <a:xfrm>
            <a:off x="9006840" y="2304288"/>
            <a:ext cx="365760" cy="0"/>
          </a:xfrm>
          <a:prstGeom prst="line">
            <a:avLst/>
          </a:prstGeom>
          <a:noFill/>
          <a:ln w="15240">
            <a:solidFill>
              <a:srgbClr val="7C3AED"/>
            </a:solidFill>
            <a:prstDash val="solid"/>
            <a:headEnd type="none"/>
            <a:tailEnd type="triangle"/>
          </a:ln>
        </p:spPr>
      </p:sp>
      <p:sp>
        <p:nvSpPr>
          <p:cNvPr id="15" name="Text 13"/>
          <p:cNvSpPr/>
          <p:nvPr/>
        </p:nvSpPr>
        <p:spPr>
          <a:xfrm>
            <a:off x="9372600" y="1965960"/>
            <a:ext cx="1783080" cy="685800"/>
          </a:xfrm>
          <a:prstGeom prst="roundRect">
            <a:avLst>
              <a:gd name="adj" fmla="val 10667"/>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180" dirty="0">
                <a:solidFill>
                  <a:srgbClr val="0F766E"/>
                </a:solidFill>
              </a:rPr>
              <a:t>Validated capability</a:t>
            </a:r>
            <a:endParaRPr lang="en-US" sz="1180" dirty="0"/>
          </a:p>
        </p:txBody>
      </p:sp>
      <p:sp>
        <p:nvSpPr>
          <p:cNvPr id="16" name="Text 14"/>
          <p:cNvSpPr/>
          <p:nvPr/>
        </p:nvSpPr>
        <p:spPr>
          <a:xfrm>
            <a:off x="777240" y="4187952"/>
            <a:ext cx="1783080" cy="685800"/>
          </a:xfrm>
          <a:prstGeom prst="roundRect">
            <a:avLst>
              <a:gd name="adj" fmla="val 10667"/>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180" b="1" dirty="0">
                <a:solidFill>
                  <a:srgbClr val="17365D"/>
                </a:solidFill>
              </a:rPr>
              <a:t>Member objective</a:t>
            </a:r>
            <a:endParaRPr lang="en-US" sz="1180" dirty="0"/>
          </a:p>
        </p:txBody>
      </p:sp>
      <p:sp>
        <p:nvSpPr>
          <p:cNvPr id="17" name="Shape 15"/>
          <p:cNvSpPr/>
          <p:nvPr/>
        </p:nvSpPr>
        <p:spPr>
          <a:xfrm>
            <a:off x="2560320" y="4526280"/>
            <a:ext cx="365760" cy="0"/>
          </a:xfrm>
          <a:prstGeom prst="line">
            <a:avLst/>
          </a:prstGeom>
          <a:noFill/>
          <a:ln w="15240">
            <a:solidFill>
              <a:srgbClr val="0F766E"/>
            </a:solidFill>
            <a:prstDash val="solid"/>
            <a:headEnd type="none"/>
            <a:tailEnd type="triangle"/>
          </a:ln>
        </p:spPr>
      </p:sp>
      <p:sp>
        <p:nvSpPr>
          <p:cNvPr id="18" name="Text 16"/>
          <p:cNvSpPr/>
          <p:nvPr/>
        </p:nvSpPr>
        <p:spPr>
          <a:xfrm>
            <a:off x="2926080" y="4187952"/>
            <a:ext cx="1783080" cy="685800"/>
          </a:xfrm>
          <a:prstGeom prst="roundRect">
            <a:avLst>
              <a:gd name="adj" fmla="val 10667"/>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180" b="1" dirty="0">
                <a:solidFill>
                  <a:srgbClr val="0F766E"/>
                </a:solidFill>
              </a:rPr>
              <a:t>Conversation understanding</a:t>
            </a:r>
            <a:endParaRPr lang="en-US" sz="1180" dirty="0"/>
          </a:p>
        </p:txBody>
      </p:sp>
      <p:sp>
        <p:nvSpPr>
          <p:cNvPr id="19" name="Shape 17"/>
          <p:cNvSpPr/>
          <p:nvPr/>
        </p:nvSpPr>
        <p:spPr>
          <a:xfrm>
            <a:off x="4709160" y="4526280"/>
            <a:ext cx="365760" cy="0"/>
          </a:xfrm>
          <a:prstGeom prst="line">
            <a:avLst/>
          </a:prstGeom>
          <a:noFill/>
          <a:ln w="15240">
            <a:solidFill>
              <a:srgbClr val="0F766E"/>
            </a:solidFill>
            <a:prstDash val="solid"/>
            <a:headEnd type="none"/>
            <a:tailEnd type="triangle"/>
          </a:ln>
        </p:spPr>
      </p:sp>
      <p:sp>
        <p:nvSpPr>
          <p:cNvPr id="20" name="Text 18"/>
          <p:cNvSpPr/>
          <p:nvPr/>
        </p:nvSpPr>
        <p:spPr>
          <a:xfrm>
            <a:off x="5074920" y="4187952"/>
            <a:ext cx="1783080" cy="685800"/>
          </a:xfrm>
          <a:prstGeom prst="roundRect">
            <a:avLst>
              <a:gd name="adj" fmla="val 10667"/>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180" b="1" dirty="0">
                <a:solidFill>
                  <a:srgbClr val="0F766E"/>
                </a:solidFill>
              </a:rPr>
              <a:t>Goal manager</a:t>
            </a:r>
            <a:endParaRPr lang="en-US" sz="1180" dirty="0"/>
          </a:p>
        </p:txBody>
      </p:sp>
      <p:sp>
        <p:nvSpPr>
          <p:cNvPr id="21" name="Shape 19"/>
          <p:cNvSpPr/>
          <p:nvPr/>
        </p:nvSpPr>
        <p:spPr>
          <a:xfrm>
            <a:off x="6858000" y="4526280"/>
            <a:ext cx="365760" cy="0"/>
          </a:xfrm>
          <a:prstGeom prst="line">
            <a:avLst/>
          </a:prstGeom>
          <a:noFill/>
          <a:ln w="15240">
            <a:solidFill>
              <a:srgbClr val="0F766E"/>
            </a:solidFill>
            <a:prstDash val="solid"/>
            <a:headEnd type="none"/>
            <a:tailEnd type="triangle"/>
          </a:ln>
        </p:spPr>
      </p:sp>
      <p:sp>
        <p:nvSpPr>
          <p:cNvPr id="22" name="Text 20"/>
          <p:cNvSpPr/>
          <p:nvPr/>
        </p:nvSpPr>
        <p:spPr>
          <a:xfrm>
            <a:off x="7223760" y="4187952"/>
            <a:ext cx="1783080" cy="685800"/>
          </a:xfrm>
          <a:prstGeom prst="roundRect">
            <a:avLst>
              <a:gd name="adj" fmla="val 10667"/>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180" dirty="0">
                <a:solidFill>
                  <a:srgbClr val="EA580C"/>
                </a:solidFill>
              </a:rPr>
              <a:t>Capability runtime</a:t>
            </a:r>
            <a:endParaRPr lang="en-US" sz="1180" dirty="0"/>
          </a:p>
        </p:txBody>
      </p:sp>
      <p:sp>
        <p:nvSpPr>
          <p:cNvPr id="23" name="Shape 21"/>
          <p:cNvSpPr/>
          <p:nvPr/>
        </p:nvSpPr>
        <p:spPr>
          <a:xfrm>
            <a:off x="9006840" y="4526280"/>
            <a:ext cx="365760" cy="0"/>
          </a:xfrm>
          <a:prstGeom prst="line">
            <a:avLst/>
          </a:prstGeom>
          <a:noFill/>
          <a:ln w="15240">
            <a:solidFill>
              <a:srgbClr val="0F766E"/>
            </a:solidFill>
            <a:prstDash val="solid"/>
            <a:headEnd type="none"/>
            <a:tailEnd type="triangle"/>
          </a:ln>
        </p:spPr>
      </p:sp>
      <p:sp>
        <p:nvSpPr>
          <p:cNvPr id="24" name="Text 22"/>
          <p:cNvSpPr/>
          <p:nvPr/>
        </p:nvSpPr>
        <p:spPr>
          <a:xfrm>
            <a:off x="9372600" y="4187952"/>
            <a:ext cx="1783080" cy="685800"/>
          </a:xfrm>
          <a:prstGeom prst="roundRect">
            <a:avLst>
              <a:gd name="adj" fmla="val 10667"/>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180" dirty="0">
                <a:solidFill>
                  <a:srgbClr val="7C3AED"/>
                </a:solidFill>
              </a:rPr>
              <a:t>Composed response</a:t>
            </a:r>
            <a:endParaRPr lang="en-US" sz="1180" dirty="0"/>
          </a:p>
        </p:txBody>
      </p:sp>
      <p:sp>
        <p:nvSpPr>
          <p:cNvPr id="25" name="Text 23"/>
          <p:cNvSpPr/>
          <p:nvPr/>
        </p:nvSpPr>
        <p:spPr>
          <a:xfrm>
            <a:off x="1143000" y="5715000"/>
            <a:ext cx="9875520" cy="365760"/>
          </a:xfrm>
          <a:prstGeom prst="rect">
            <a:avLst/>
          </a:prstGeom>
          <a:noFill/>
          <a:ln/>
        </p:spPr>
        <p:txBody>
          <a:bodyPr wrap="square" lIns="0" tIns="0" rIns="0" bIns="0" rtlCol="0" anchor="ctr"/>
          <a:lstStyle/>
          <a:p>
            <a:pPr algn="ctr" indent="0" marL="0">
              <a:buNone/>
            </a:pPr>
            <a:r>
              <a:rPr lang="en-US" sz="1700" b="1" dirty="0">
                <a:solidFill>
                  <a:srgbClr val="0F172A"/>
                </a:solidFill>
              </a:rPr>
              <a:t>Development-time AI creates and validates the capabilities that runtime AI can safely use.</a:t>
            </a:r>
            <a:endParaRPr lang="en-US" sz="1700" dirty="0"/>
          </a:p>
        </p:txBody>
      </p:sp>
      <p:sp>
        <p:nvSpPr>
          <p:cNvPr id="26" name="Text 24"/>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7" name="Text 25"/>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ORGANIZATION DESIGN</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Target operating model</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3794760" y="2578608"/>
            <a:ext cx="4663440" cy="749808"/>
          </a:xfrm>
          <a:prstGeom prst="roundRect">
            <a:avLst>
              <a:gd name="adj" fmla="val 9756"/>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700" b="1" dirty="0">
                <a:solidFill>
                  <a:srgbClr val="0F766E"/>
                </a:solidFill>
              </a:rPr>
              <a:t>Enterprise Conversational AI Platform</a:t>
            </a:r>
            <a:endParaRPr lang="en-US" sz="1700" dirty="0"/>
          </a:p>
        </p:txBody>
      </p:sp>
      <p:sp>
        <p:nvSpPr>
          <p:cNvPr id="6" name="Text 4"/>
          <p:cNvSpPr/>
          <p:nvPr/>
        </p:nvSpPr>
        <p:spPr>
          <a:xfrm>
            <a:off x="685800" y="1417320"/>
            <a:ext cx="2926080" cy="914400"/>
          </a:xfrm>
          <a:prstGeom prst="roundRect">
            <a:avLst>
              <a:gd name="adj" fmla="val 8000"/>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50" b="1" dirty="0">
                <a:solidFill>
                  <a:srgbClr val="17365D"/>
                </a:solidFill>
              </a:rPr>
              <a:t>Business Capability Owners</a:t>
            </a:r>
            <a:endParaRPr lang="en-US" sz="1250" dirty="0"/>
          </a:p>
          <a:p>
            <a:pPr algn="ctr" indent="0" marL="0">
              <a:buNone/>
            </a:pPr>
            <a:r>
              <a:rPr lang="en-US" sz="1250" b="1" dirty="0">
                <a:solidFill>
                  <a:srgbClr val="17365D"/>
                </a:solidFill>
              </a:rPr>
              <a:t>Define outcomes, policy, acceptance</a:t>
            </a:r>
            <a:endParaRPr lang="en-US" sz="1250" dirty="0"/>
          </a:p>
        </p:txBody>
      </p:sp>
      <p:sp>
        <p:nvSpPr>
          <p:cNvPr id="7" name="Text 5"/>
          <p:cNvSpPr/>
          <p:nvPr/>
        </p:nvSpPr>
        <p:spPr>
          <a:xfrm>
            <a:off x="685800" y="3794760"/>
            <a:ext cx="2926080" cy="914400"/>
          </a:xfrm>
          <a:prstGeom prst="roundRect">
            <a:avLst>
              <a:gd name="adj" fmla="val 8000"/>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250" b="1" dirty="0">
                <a:solidFill>
                  <a:srgbClr val="EA580C"/>
                </a:solidFill>
              </a:rPr>
              <a:t>Capability Pods</a:t>
            </a:r>
            <a:endParaRPr lang="en-US" sz="1250" dirty="0"/>
          </a:p>
          <a:p>
            <a:pPr algn="ctr" indent="0" marL="0">
              <a:buNone/>
            </a:pPr>
            <a:r>
              <a:rPr lang="en-US" sz="1250" b="1" dirty="0">
                <a:solidFill>
                  <a:srgbClr val="EA580C"/>
                </a:solidFill>
              </a:rPr>
              <a:t>Build skills/capabilities from specs</a:t>
            </a:r>
            <a:endParaRPr lang="en-US" sz="1250" dirty="0"/>
          </a:p>
        </p:txBody>
      </p:sp>
      <p:sp>
        <p:nvSpPr>
          <p:cNvPr id="8" name="Text 6"/>
          <p:cNvSpPr/>
          <p:nvPr/>
        </p:nvSpPr>
        <p:spPr>
          <a:xfrm>
            <a:off x="4645152" y="1143000"/>
            <a:ext cx="2971800" cy="914400"/>
          </a:xfrm>
          <a:prstGeom prst="roundRect">
            <a:avLst>
              <a:gd name="adj" fmla="val 8000"/>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250" b="1" dirty="0">
                <a:solidFill>
                  <a:srgbClr val="0F766E"/>
                </a:solidFill>
              </a:rPr>
              <a:t>Platform Runtime Team</a:t>
            </a:r>
            <a:endParaRPr lang="en-US" sz="1250" dirty="0"/>
          </a:p>
          <a:p>
            <a:pPr algn="ctr" indent="0" marL="0">
              <a:buNone/>
            </a:pPr>
            <a:r>
              <a:rPr lang="en-US" sz="1250" b="1" dirty="0">
                <a:solidFill>
                  <a:srgbClr val="0F766E"/>
                </a:solidFill>
              </a:rPr>
              <a:t>Core orchestration, state, APIs</a:t>
            </a:r>
            <a:endParaRPr lang="en-US" sz="1250" dirty="0"/>
          </a:p>
        </p:txBody>
      </p:sp>
      <p:sp>
        <p:nvSpPr>
          <p:cNvPr id="9" name="Text 7"/>
          <p:cNvSpPr/>
          <p:nvPr/>
        </p:nvSpPr>
        <p:spPr>
          <a:xfrm>
            <a:off x="8577072" y="1417320"/>
            <a:ext cx="2926080" cy="914400"/>
          </a:xfrm>
          <a:prstGeom prst="roundRect">
            <a:avLst>
              <a:gd name="adj" fmla="val 8000"/>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Developer Platform Team</a:t>
            </a:r>
            <a:endParaRPr lang="en-US" sz="1250" dirty="0"/>
          </a:p>
          <a:p>
            <a:pPr algn="ctr" indent="0" marL="0">
              <a:buNone/>
            </a:pPr>
            <a:r>
              <a:rPr lang="en-US" sz="1250" b="1" dirty="0">
                <a:solidFill>
                  <a:srgbClr val="7C3AED"/>
                </a:solidFill>
              </a:rPr>
              <a:t>AI workflow, templates, CI/CD</a:t>
            </a:r>
            <a:endParaRPr lang="en-US" sz="1250" dirty="0"/>
          </a:p>
        </p:txBody>
      </p:sp>
      <p:sp>
        <p:nvSpPr>
          <p:cNvPr id="10" name="Text 8"/>
          <p:cNvSpPr/>
          <p:nvPr/>
        </p:nvSpPr>
        <p:spPr>
          <a:xfrm>
            <a:off x="8577072" y="3794760"/>
            <a:ext cx="2926080" cy="914400"/>
          </a:xfrm>
          <a:prstGeom prst="roundRect">
            <a:avLst>
              <a:gd name="adj" fmla="val 8000"/>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250" b="1" dirty="0">
                <a:solidFill>
                  <a:srgbClr val="0F172A"/>
                </a:solidFill>
              </a:rPr>
              <a:t>AI Quality &amp; Evaluation</a:t>
            </a:r>
            <a:endParaRPr lang="en-US" sz="1250" dirty="0"/>
          </a:p>
          <a:p>
            <a:pPr algn="ctr" indent="0" marL="0">
              <a:buNone/>
            </a:pPr>
            <a:r>
              <a:rPr lang="en-US" sz="1250" b="1" dirty="0">
                <a:solidFill>
                  <a:srgbClr val="0F172A"/>
                </a:solidFill>
              </a:rPr>
              <a:t>Conversation regression and evals</a:t>
            </a:r>
            <a:endParaRPr lang="en-US" sz="1250" dirty="0"/>
          </a:p>
        </p:txBody>
      </p:sp>
      <p:sp>
        <p:nvSpPr>
          <p:cNvPr id="11" name="Text 9"/>
          <p:cNvSpPr/>
          <p:nvPr/>
        </p:nvSpPr>
        <p:spPr>
          <a:xfrm>
            <a:off x="4645152" y="4983480"/>
            <a:ext cx="2971800" cy="804672"/>
          </a:xfrm>
          <a:prstGeom prst="roundRect">
            <a:avLst>
              <a:gd name="adj" fmla="val 9091"/>
            </a:avLst>
          </a:prstGeom>
          <a:solidFill>
            <a:srgbClr val="E0F2FE"/>
          </a:solidFill>
          <a:ln w="12700">
            <a:solidFill>
              <a:srgbClr val="E0F2FE"/>
            </a:solidFill>
          </a:ln>
        </p:spPr>
        <p:txBody>
          <a:bodyPr wrap="square" lIns="1016" tIns="1016" rIns="1016" bIns="1016" rtlCol="0" anchor="ctr">
            <a:normAutofit/>
          </a:bodyPr>
          <a:lstStyle/>
          <a:p>
            <a:pPr algn="ctr" indent="0" marL="0">
              <a:buNone/>
            </a:pPr>
            <a:r>
              <a:rPr lang="en-US" sz="1250" b="1" dirty="0">
                <a:solidFill>
                  <a:srgbClr val="2563EB"/>
                </a:solidFill>
              </a:rPr>
              <a:t>Observability / Ops / FinOps</a:t>
            </a:r>
            <a:endParaRPr lang="en-US" sz="1250" dirty="0"/>
          </a:p>
          <a:p>
            <a:pPr algn="ctr" indent="0" marL="0">
              <a:buNone/>
            </a:pPr>
            <a:r>
              <a:rPr lang="en-US" sz="1250" b="1" dirty="0">
                <a:solidFill>
                  <a:srgbClr val="2563EB"/>
                </a:solidFill>
              </a:rPr>
              <a:t>Tracing, metrics, release health</a:t>
            </a:r>
            <a:endParaRPr lang="en-US" sz="1250" dirty="0"/>
          </a:p>
        </p:txBody>
      </p:sp>
      <p:sp>
        <p:nvSpPr>
          <p:cNvPr id="12" name="Text 10"/>
          <p:cNvSpPr/>
          <p:nvPr/>
        </p:nvSpPr>
        <p:spPr>
          <a:xfrm>
            <a:off x="2834640" y="5925312"/>
            <a:ext cx="6492240" cy="365760"/>
          </a:xfrm>
          <a:prstGeom prst="roundRect">
            <a:avLst>
              <a:gd name="adj" fmla="val 20000"/>
            </a:avLst>
          </a:prstGeom>
          <a:solidFill>
            <a:srgbClr val="FFFFFF"/>
          </a:solidFill>
          <a:ln w="12700">
            <a:solidFill>
              <a:srgbClr val="7C3AED"/>
            </a:solidFill>
          </a:ln>
        </p:spPr>
        <p:txBody>
          <a:bodyPr wrap="square" lIns="1016" tIns="1016" rIns="1016" bIns="1016" rtlCol="0" anchor="ctr">
            <a:normAutofit/>
          </a:bodyPr>
          <a:lstStyle/>
          <a:p>
            <a:pPr algn="ctr" indent="0" marL="0">
              <a:buNone/>
            </a:pPr>
            <a:r>
              <a:rPr lang="en-US" sz="1220" b="1" dirty="0">
                <a:solidFill>
                  <a:srgbClr val="7C3AED"/>
                </a:solidFill>
              </a:rPr>
              <a:t>AI COE: standards, reference patterns, coaching, governance enablement</a:t>
            </a:r>
            <a:endParaRPr lang="en-US" sz="1220" dirty="0"/>
          </a:p>
        </p:txBody>
      </p:sp>
      <p:sp>
        <p:nvSpPr>
          <p:cNvPr id="13" name="Shape 11"/>
          <p:cNvSpPr/>
          <p:nvPr/>
        </p:nvSpPr>
        <p:spPr>
          <a:xfrm>
            <a:off x="3611880" y="1874520"/>
            <a:ext cx="182880" cy="914400"/>
          </a:xfrm>
          <a:prstGeom prst="line">
            <a:avLst/>
          </a:prstGeom>
          <a:noFill/>
          <a:ln w="15240">
            <a:solidFill>
              <a:srgbClr val="17365D"/>
            </a:solidFill>
            <a:prstDash val="solid"/>
            <a:headEnd type="none"/>
            <a:tailEnd type="triangle"/>
          </a:ln>
        </p:spPr>
      </p:sp>
      <p:sp>
        <p:nvSpPr>
          <p:cNvPr id="14" name="Shape 12"/>
          <p:cNvSpPr/>
          <p:nvPr/>
        </p:nvSpPr>
        <p:spPr>
          <a:xfrm>
            <a:off x="3611880" y="4251960"/>
            <a:ext cx="182880" cy="-1005840"/>
          </a:xfrm>
          <a:prstGeom prst="line">
            <a:avLst/>
          </a:prstGeom>
          <a:noFill/>
          <a:ln w="15240">
            <a:solidFill>
              <a:srgbClr val="EA580C"/>
            </a:solidFill>
            <a:prstDash val="solid"/>
            <a:headEnd type="none"/>
            <a:tailEnd type="triangle"/>
          </a:ln>
        </p:spPr>
      </p:sp>
      <p:sp>
        <p:nvSpPr>
          <p:cNvPr id="15" name="Shape 13"/>
          <p:cNvSpPr/>
          <p:nvPr/>
        </p:nvSpPr>
        <p:spPr>
          <a:xfrm>
            <a:off x="6126480" y="2057400"/>
            <a:ext cx="0" cy="521208"/>
          </a:xfrm>
          <a:prstGeom prst="line">
            <a:avLst/>
          </a:prstGeom>
          <a:noFill/>
          <a:ln w="15240">
            <a:solidFill>
              <a:srgbClr val="0F766E"/>
            </a:solidFill>
            <a:prstDash val="solid"/>
            <a:headEnd type="none"/>
            <a:tailEnd type="triangle"/>
          </a:ln>
        </p:spPr>
      </p:sp>
      <p:sp>
        <p:nvSpPr>
          <p:cNvPr id="16" name="Shape 14"/>
          <p:cNvSpPr/>
          <p:nvPr/>
        </p:nvSpPr>
        <p:spPr>
          <a:xfrm>
            <a:off x="8577072" y="1874520"/>
            <a:ext cx="-118872" cy="914400"/>
          </a:xfrm>
          <a:prstGeom prst="line">
            <a:avLst/>
          </a:prstGeom>
          <a:noFill/>
          <a:ln w="15240">
            <a:solidFill>
              <a:srgbClr val="7C3AED"/>
            </a:solidFill>
            <a:prstDash val="solid"/>
            <a:headEnd type="none"/>
            <a:tailEnd type="triangle"/>
          </a:ln>
        </p:spPr>
      </p:sp>
      <p:sp>
        <p:nvSpPr>
          <p:cNvPr id="17" name="Shape 15"/>
          <p:cNvSpPr/>
          <p:nvPr/>
        </p:nvSpPr>
        <p:spPr>
          <a:xfrm>
            <a:off x="8577072" y="4251960"/>
            <a:ext cx="-118872" cy="-1005840"/>
          </a:xfrm>
          <a:prstGeom prst="line">
            <a:avLst/>
          </a:prstGeom>
          <a:noFill/>
          <a:ln w="15240">
            <a:solidFill>
              <a:srgbClr val="0F172A"/>
            </a:solidFill>
            <a:prstDash val="solid"/>
            <a:headEnd type="none"/>
            <a:tailEnd type="triangle"/>
          </a:ln>
        </p:spPr>
      </p:sp>
      <p:sp>
        <p:nvSpPr>
          <p:cNvPr id="18" name="Shape 16"/>
          <p:cNvSpPr/>
          <p:nvPr/>
        </p:nvSpPr>
        <p:spPr>
          <a:xfrm>
            <a:off x="6126480" y="4983480"/>
            <a:ext cx="0" cy="-1645920"/>
          </a:xfrm>
          <a:prstGeom prst="line">
            <a:avLst/>
          </a:prstGeom>
          <a:noFill/>
          <a:ln w="15240">
            <a:solidFill>
              <a:srgbClr val="2563EB"/>
            </a:solidFill>
            <a:prstDash val="solid"/>
            <a:headEnd type="none"/>
            <a:tailEnd type="triangle"/>
          </a:ln>
        </p:spPr>
      </p:sp>
      <p:sp>
        <p:nvSpPr>
          <p:cNvPr id="19" name="Text 17"/>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0" name="Text 18"/>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WORKSTREAMS</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Workstream map and responsibilities</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502920" y="1353312"/>
            <a:ext cx="411480" cy="347472"/>
          </a:xfrm>
          <a:prstGeom prst="roundRect">
            <a:avLst>
              <a:gd name="adj" fmla="val 21053"/>
            </a:avLst>
          </a:prstGeom>
          <a:solidFill>
            <a:srgbClr val="17365D"/>
          </a:solidFill>
          <a:ln w="12700">
            <a:solidFill>
              <a:srgbClr val="17365D"/>
            </a:solidFill>
          </a:ln>
        </p:spPr>
        <p:txBody>
          <a:bodyPr wrap="square" lIns="1016" tIns="1016" rIns="1016" bIns="1016" rtlCol="0" anchor="ctr">
            <a:normAutofit/>
          </a:bodyPr>
          <a:lstStyle/>
          <a:p>
            <a:pPr algn="ctr" indent="0" marL="0">
              <a:buNone/>
            </a:pPr>
            <a:r>
              <a:rPr lang="en-US" sz="1050" b="1" dirty="0">
                <a:solidFill>
                  <a:srgbClr val="FFFFFF"/>
                </a:solidFill>
              </a:rPr>
              <a:t>#</a:t>
            </a:r>
            <a:endParaRPr lang="en-US" sz="1050" dirty="0"/>
          </a:p>
        </p:txBody>
      </p:sp>
      <p:sp>
        <p:nvSpPr>
          <p:cNvPr id="6" name="Text 4"/>
          <p:cNvSpPr/>
          <p:nvPr/>
        </p:nvSpPr>
        <p:spPr>
          <a:xfrm>
            <a:off x="960120" y="1353312"/>
            <a:ext cx="1920240" cy="347472"/>
          </a:xfrm>
          <a:prstGeom prst="roundRect">
            <a:avLst>
              <a:gd name="adj" fmla="val 21053"/>
            </a:avLst>
          </a:prstGeom>
          <a:solidFill>
            <a:srgbClr val="17365D"/>
          </a:solidFill>
          <a:ln w="12700">
            <a:solidFill>
              <a:srgbClr val="17365D"/>
            </a:solidFill>
          </a:ln>
        </p:spPr>
        <p:txBody>
          <a:bodyPr wrap="square" lIns="1016" tIns="1016" rIns="1016" bIns="1016" rtlCol="0" anchor="ctr">
            <a:normAutofit/>
          </a:bodyPr>
          <a:lstStyle/>
          <a:p>
            <a:pPr algn="ctr" indent="0" marL="0">
              <a:buNone/>
            </a:pPr>
            <a:r>
              <a:rPr lang="en-US" sz="1050" b="1" dirty="0">
                <a:solidFill>
                  <a:srgbClr val="FFFFFF"/>
                </a:solidFill>
              </a:rPr>
              <a:t>Workstream</a:t>
            </a:r>
            <a:endParaRPr lang="en-US" sz="1050" dirty="0"/>
          </a:p>
        </p:txBody>
      </p:sp>
      <p:sp>
        <p:nvSpPr>
          <p:cNvPr id="7" name="Text 5"/>
          <p:cNvSpPr/>
          <p:nvPr/>
        </p:nvSpPr>
        <p:spPr>
          <a:xfrm>
            <a:off x="2926080" y="1353312"/>
            <a:ext cx="3840480" cy="347472"/>
          </a:xfrm>
          <a:prstGeom prst="roundRect">
            <a:avLst>
              <a:gd name="adj" fmla="val 21053"/>
            </a:avLst>
          </a:prstGeom>
          <a:solidFill>
            <a:srgbClr val="17365D"/>
          </a:solidFill>
          <a:ln w="12700">
            <a:solidFill>
              <a:srgbClr val="17365D"/>
            </a:solidFill>
          </a:ln>
        </p:spPr>
        <p:txBody>
          <a:bodyPr wrap="square" lIns="1016" tIns="1016" rIns="1016" bIns="1016" rtlCol="0" anchor="ctr">
            <a:normAutofit/>
          </a:bodyPr>
          <a:lstStyle/>
          <a:p>
            <a:pPr algn="ctr" indent="0" marL="0">
              <a:buNone/>
            </a:pPr>
            <a:r>
              <a:rPr lang="en-US" sz="1050" b="1" dirty="0">
                <a:solidFill>
                  <a:srgbClr val="FFFFFF"/>
                </a:solidFill>
              </a:rPr>
              <a:t>Mission</a:t>
            </a:r>
            <a:endParaRPr lang="en-US" sz="1050" dirty="0"/>
          </a:p>
        </p:txBody>
      </p:sp>
      <p:sp>
        <p:nvSpPr>
          <p:cNvPr id="8" name="Text 6"/>
          <p:cNvSpPr/>
          <p:nvPr/>
        </p:nvSpPr>
        <p:spPr>
          <a:xfrm>
            <a:off x="6812280" y="1353312"/>
            <a:ext cx="1051560" cy="347472"/>
          </a:xfrm>
          <a:prstGeom prst="roundRect">
            <a:avLst>
              <a:gd name="adj" fmla="val 21053"/>
            </a:avLst>
          </a:prstGeom>
          <a:solidFill>
            <a:srgbClr val="17365D"/>
          </a:solidFill>
          <a:ln w="12700">
            <a:solidFill>
              <a:srgbClr val="17365D"/>
            </a:solidFill>
          </a:ln>
        </p:spPr>
        <p:txBody>
          <a:bodyPr wrap="square" lIns="1016" tIns="1016" rIns="1016" bIns="1016" rtlCol="0" anchor="ctr">
            <a:normAutofit/>
          </a:bodyPr>
          <a:lstStyle/>
          <a:p>
            <a:pPr algn="ctr" indent="0" marL="0">
              <a:buNone/>
            </a:pPr>
            <a:r>
              <a:rPr lang="en-US" sz="1050" b="1" dirty="0">
                <a:solidFill>
                  <a:srgbClr val="FFFFFF"/>
                </a:solidFill>
              </a:rPr>
              <a:t>Team size</a:t>
            </a:r>
            <a:endParaRPr lang="en-US" sz="1050" dirty="0"/>
          </a:p>
        </p:txBody>
      </p:sp>
      <p:sp>
        <p:nvSpPr>
          <p:cNvPr id="9" name="Text 7"/>
          <p:cNvSpPr/>
          <p:nvPr/>
        </p:nvSpPr>
        <p:spPr>
          <a:xfrm>
            <a:off x="7909560" y="1353312"/>
            <a:ext cx="1965960" cy="347472"/>
          </a:xfrm>
          <a:prstGeom prst="roundRect">
            <a:avLst>
              <a:gd name="adj" fmla="val 21053"/>
            </a:avLst>
          </a:prstGeom>
          <a:solidFill>
            <a:srgbClr val="17365D"/>
          </a:solidFill>
          <a:ln w="12700">
            <a:solidFill>
              <a:srgbClr val="17365D"/>
            </a:solidFill>
          </a:ln>
        </p:spPr>
        <p:txBody>
          <a:bodyPr wrap="square" lIns="1016" tIns="1016" rIns="1016" bIns="1016" rtlCol="0" anchor="ctr">
            <a:normAutofit/>
          </a:bodyPr>
          <a:lstStyle/>
          <a:p>
            <a:pPr algn="ctr" indent="0" marL="0">
              <a:buNone/>
            </a:pPr>
            <a:r>
              <a:rPr lang="en-US" sz="1050" b="1" dirty="0">
                <a:solidFill>
                  <a:srgbClr val="FFFFFF"/>
                </a:solidFill>
              </a:rPr>
              <a:t>Parallelization</a:t>
            </a:r>
            <a:endParaRPr lang="en-US" sz="1050" dirty="0"/>
          </a:p>
        </p:txBody>
      </p:sp>
      <p:sp>
        <p:nvSpPr>
          <p:cNvPr id="10" name="Text 8"/>
          <p:cNvSpPr/>
          <p:nvPr/>
        </p:nvSpPr>
        <p:spPr>
          <a:xfrm>
            <a:off x="502920" y="1792224"/>
            <a:ext cx="411480" cy="438912"/>
          </a:xfrm>
          <a:prstGeom prst="roundRect">
            <a:avLst>
              <a:gd name="adj" fmla="val 17778"/>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1</a:t>
            </a:r>
            <a:endParaRPr lang="en-US" sz="1020" dirty="0"/>
          </a:p>
        </p:txBody>
      </p:sp>
      <p:sp>
        <p:nvSpPr>
          <p:cNvPr id="11" name="Text 9"/>
          <p:cNvSpPr/>
          <p:nvPr/>
        </p:nvSpPr>
        <p:spPr>
          <a:xfrm>
            <a:off x="960120" y="1792224"/>
            <a:ext cx="192024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Platform Runtime</a:t>
            </a:r>
            <a:endParaRPr lang="en-US" sz="1020" dirty="0"/>
          </a:p>
        </p:txBody>
      </p:sp>
      <p:sp>
        <p:nvSpPr>
          <p:cNvPr id="12" name="Text 10"/>
          <p:cNvSpPr/>
          <p:nvPr/>
        </p:nvSpPr>
        <p:spPr>
          <a:xfrm>
            <a:off x="2926080" y="1792224"/>
            <a:ext cx="384048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Orchestrator, LangGraph, state, providers, APIs</a:t>
            </a:r>
            <a:endParaRPr lang="en-US" sz="940" dirty="0"/>
          </a:p>
        </p:txBody>
      </p:sp>
      <p:sp>
        <p:nvSpPr>
          <p:cNvPr id="13" name="Text 11"/>
          <p:cNvSpPr/>
          <p:nvPr/>
        </p:nvSpPr>
        <p:spPr>
          <a:xfrm>
            <a:off x="6812280" y="1792224"/>
            <a:ext cx="10515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5–7</a:t>
            </a:r>
            <a:endParaRPr lang="en-US" sz="1020" dirty="0"/>
          </a:p>
        </p:txBody>
      </p:sp>
      <p:sp>
        <p:nvSpPr>
          <p:cNvPr id="14" name="Text 12"/>
          <p:cNvSpPr/>
          <p:nvPr/>
        </p:nvSpPr>
        <p:spPr>
          <a:xfrm>
            <a:off x="7909560" y="1792224"/>
            <a:ext cx="19659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day 1</a:t>
            </a:r>
            <a:endParaRPr lang="en-US" sz="1020" dirty="0"/>
          </a:p>
        </p:txBody>
      </p:sp>
      <p:sp>
        <p:nvSpPr>
          <p:cNvPr id="15" name="Text 13"/>
          <p:cNvSpPr/>
          <p:nvPr/>
        </p:nvSpPr>
        <p:spPr>
          <a:xfrm>
            <a:off x="502920" y="2322576"/>
            <a:ext cx="411480" cy="438912"/>
          </a:xfrm>
          <a:prstGeom prst="roundRect">
            <a:avLst>
              <a:gd name="adj" fmla="val 17778"/>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2</a:t>
            </a:r>
            <a:endParaRPr lang="en-US" sz="1020" dirty="0"/>
          </a:p>
        </p:txBody>
      </p:sp>
      <p:sp>
        <p:nvSpPr>
          <p:cNvPr id="16" name="Text 14"/>
          <p:cNvSpPr/>
          <p:nvPr/>
        </p:nvSpPr>
        <p:spPr>
          <a:xfrm>
            <a:off x="960120" y="2322576"/>
            <a:ext cx="192024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Developer Platform</a:t>
            </a:r>
            <a:endParaRPr lang="en-US" sz="1020" dirty="0"/>
          </a:p>
        </p:txBody>
      </p:sp>
      <p:sp>
        <p:nvSpPr>
          <p:cNvPr id="17" name="Text 15"/>
          <p:cNvSpPr/>
          <p:nvPr/>
        </p:nvSpPr>
        <p:spPr>
          <a:xfrm>
            <a:off x="2926080" y="2322576"/>
            <a:ext cx="384048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Spec tooling, AI dev workflow, templates, CI/CD</a:t>
            </a:r>
            <a:endParaRPr lang="en-US" sz="940" dirty="0"/>
          </a:p>
        </p:txBody>
      </p:sp>
      <p:sp>
        <p:nvSpPr>
          <p:cNvPr id="18" name="Text 16"/>
          <p:cNvSpPr/>
          <p:nvPr/>
        </p:nvSpPr>
        <p:spPr>
          <a:xfrm>
            <a:off x="6812280" y="2322576"/>
            <a:ext cx="10515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3–4</a:t>
            </a:r>
            <a:endParaRPr lang="en-US" sz="1020" dirty="0"/>
          </a:p>
        </p:txBody>
      </p:sp>
      <p:sp>
        <p:nvSpPr>
          <p:cNvPr id="19" name="Text 17"/>
          <p:cNvSpPr/>
          <p:nvPr/>
        </p:nvSpPr>
        <p:spPr>
          <a:xfrm>
            <a:off x="7909560" y="2322576"/>
            <a:ext cx="19659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day 1</a:t>
            </a:r>
            <a:endParaRPr lang="en-US" sz="1020" dirty="0"/>
          </a:p>
        </p:txBody>
      </p:sp>
      <p:sp>
        <p:nvSpPr>
          <p:cNvPr id="20" name="Text 18"/>
          <p:cNvSpPr/>
          <p:nvPr/>
        </p:nvSpPr>
        <p:spPr>
          <a:xfrm>
            <a:off x="502920" y="2852928"/>
            <a:ext cx="411480" cy="438912"/>
          </a:xfrm>
          <a:prstGeom prst="roundRect">
            <a:avLst>
              <a:gd name="adj" fmla="val 17778"/>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3</a:t>
            </a:r>
            <a:endParaRPr lang="en-US" sz="1020" dirty="0"/>
          </a:p>
        </p:txBody>
      </p:sp>
      <p:sp>
        <p:nvSpPr>
          <p:cNvPr id="21" name="Text 19"/>
          <p:cNvSpPr/>
          <p:nvPr/>
        </p:nvSpPr>
        <p:spPr>
          <a:xfrm>
            <a:off x="960120" y="2852928"/>
            <a:ext cx="192024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Capability Pods</a:t>
            </a:r>
            <a:endParaRPr lang="en-US" sz="1020" dirty="0"/>
          </a:p>
        </p:txBody>
      </p:sp>
      <p:sp>
        <p:nvSpPr>
          <p:cNvPr id="22" name="Text 20"/>
          <p:cNvSpPr/>
          <p:nvPr/>
        </p:nvSpPr>
        <p:spPr>
          <a:xfrm>
            <a:off x="2926080" y="2852928"/>
            <a:ext cx="384048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Business capability specs, tools, prompts, tests</a:t>
            </a:r>
            <a:endParaRPr lang="en-US" sz="940" dirty="0"/>
          </a:p>
        </p:txBody>
      </p:sp>
      <p:sp>
        <p:nvSpPr>
          <p:cNvPr id="23" name="Text 21"/>
          <p:cNvSpPr/>
          <p:nvPr/>
        </p:nvSpPr>
        <p:spPr>
          <a:xfrm>
            <a:off x="6812280" y="2852928"/>
            <a:ext cx="10515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3–5 per pod</a:t>
            </a:r>
            <a:endParaRPr lang="en-US" sz="1020" dirty="0"/>
          </a:p>
        </p:txBody>
      </p:sp>
      <p:sp>
        <p:nvSpPr>
          <p:cNvPr id="24" name="Text 22"/>
          <p:cNvSpPr/>
          <p:nvPr/>
        </p:nvSpPr>
        <p:spPr>
          <a:xfrm>
            <a:off x="7909560" y="2852928"/>
            <a:ext cx="19659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after baseline</a:t>
            </a:r>
            <a:endParaRPr lang="en-US" sz="1020" dirty="0"/>
          </a:p>
        </p:txBody>
      </p:sp>
      <p:sp>
        <p:nvSpPr>
          <p:cNvPr id="25" name="Text 23"/>
          <p:cNvSpPr/>
          <p:nvPr/>
        </p:nvSpPr>
        <p:spPr>
          <a:xfrm>
            <a:off x="502920" y="3383280"/>
            <a:ext cx="411480" cy="438912"/>
          </a:xfrm>
          <a:prstGeom prst="roundRect">
            <a:avLst>
              <a:gd name="adj" fmla="val 17778"/>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4</a:t>
            </a:r>
            <a:endParaRPr lang="en-US" sz="1020" dirty="0"/>
          </a:p>
        </p:txBody>
      </p:sp>
      <p:sp>
        <p:nvSpPr>
          <p:cNvPr id="26" name="Text 24"/>
          <p:cNvSpPr/>
          <p:nvPr/>
        </p:nvSpPr>
        <p:spPr>
          <a:xfrm>
            <a:off x="960120" y="3383280"/>
            <a:ext cx="192024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AI Quality &amp; Evaluation</a:t>
            </a:r>
            <a:endParaRPr lang="en-US" sz="1020" dirty="0"/>
          </a:p>
        </p:txBody>
      </p:sp>
      <p:sp>
        <p:nvSpPr>
          <p:cNvPr id="27" name="Text 25"/>
          <p:cNvSpPr/>
          <p:nvPr/>
        </p:nvSpPr>
        <p:spPr>
          <a:xfrm>
            <a:off x="2926080" y="3383280"/>
            <a:ext cx="384048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Conversation regression, eval gates, red-team suites</a:t>
            </a:r>
            <a:endParaRPr lang="en-US" sz="940" dirty="0"/>
          </a:p>
        </p:txBody>
      </p:sp>
      <p:sp>
        <p:nvSpPr>
          <p:cNvPr id="28" name="Text 26"/>
          <p:cNvSpPr/>
          <p:nvPr/>
        </p:nvSpPr>
        <p:spPr>
          <a:xfrm>
            <a:off x="6812280" y="3383280"/>
            <a:ext cx="10515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4–6</a:t>
            </a:r>
            <a:endParaRPr lang="en-US" sz="1020" dirty="0"/>
          </a:p>
        </p:txBody>
      </p:sp>
      <p:sp>
        <p:nvSpPr>
          <p:cNvPr id="29" name="Text 27"/>
          <p:cNvSpPr/>
          <p:nvPr/>
        </p:nvSpPr>
        <p:spPr>
          <a:xfrm>
            <a:off x="7909560" y="3383280"/>
            <a:ext cx="19659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day 1</a:t>
            </a:r>
            <a:endParaRPr lang="en-US" sz="1020" dirty="0"/>
          </a:p>
        </p:txBody>
      </p:sp>
      <p:sp>
        <p:nvSpPr>
          <p:cNvPr id="30" name="Text 28"/>
          <p:cNvSpPr/>
          <p:nvPr/>
        </p:nvSpPr>
        <p:spPr>
          <a:xfrm>
            <a:off x="502920" y="3913632"/>
            <a:ext cx="411480" cy="438912"/>
          </a:xfrm>
          <a:prstGeom prst="roundRect">
            <a:avLst>
              <a:gd name="adj" fmla="val 17778"/>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5</a:t>
            </a:r>
            <a:endParaRPr lang="en-US" sz="1020" dirty="0"/>
          </a:p>
        </p:txBody>
      </p:sp>
      <p:sp>
        <p:nvSpPr>
          <p:cNvPr id="31" name="Text 29"/>
          <p:cNvSpPr/>
          <p:nvPr/>
        </p:nvSpPr>
        <p:spPr>
          <a:xfrm>
            <a:off x="960120" y="3913632"/>
            <a:ext cx="192024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Observability / Ops / FinOps</a:t>
            </a:r>
            <a:endParaRPr lang="en-US" sz="1020" dirty="0"/>
          </a:p>
        </p:txBody>
      </p:sp>
      <p:sp>
        <p:nvSpPr>
          <p:cNvPr id="32" name="Text 30"/>
          <p:cNvSpPr/>
          <p:nvPr/>
        </p:nvSpPr>
        <p:spPr>
          <a:xfrm>
            <a:off x="2926080" y="3913632"/>
            <a:ext cx="384048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Tracing, KPIs, cost, release health, incidents</a:t>
            </a:r>
            <a:endParaRPr lang="en-US" sz="940" dirty="0"/>
          </a:p>
        </p:txBody>
      </p:sp>
      <p:sp>
        <p:nvSpPr>
          <p:cNvPr id="33" name="Text 31"/>
          <p:cNvSpPr/>
          <p:nvPr/>
        </p:nvSpPr>
        <p:spPr>
          <a:xfrm>
            <a:off x="6812280" y="3913632"/>
            <a:ext cx="10515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2–4</a:t>
            </a:r>
            <a:endParaRPr lang="en-US" sz="1020" dirty="0"/>
          </a:p>
        </p:txBody>
      </p:sp>
      <p:sp>
        <p:nvSpPr>
          <p:cNvPr id="34" name="Text 32"/>
          <p:cNvSpPr/>
          <p:nvPr/>
        </p:nvSpPr>
        <p:spPr>
          <a:xfrm>
            <a:off x="7909560" y="3913632"/>
            <a:ext cx="19659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day 1</a:t>
            </a:r>
            <a:endParaRPr lang="en-US" sz="1020" dirty="0"/>
          </a:p>
        </p:txBody>
      </p:sp>
      <p:sp>
        <p:nvSpPr>
          <p:cNvPr id="35" name="Text 33"/>
          <p:cNvSpPr/>
          <p:nvPr/>
        </p:nvSpPr>
        <p:spPr>
          <a:xfrm>
            <a:off x="502920" y="4443984"/>
            <a:ext cx="411480" cy="438912"/>
          </a:xfrm>
          <a:prstGeom prst="roundRect">
            <a:avLst>
              <a:gd name="adj" fmla="val 17778"/>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6</a:t>
            </a:r>
            <a:endParaRPr lang="en-US" sz="1020" dirty="0"/>
          </a:p>
        </p:txBody>
      </p:sp>
      <p:sp>
        <p:nvSpPr>
          <p:cNvPr id="36" name="Text 34"/>
          <p:cNvSpPr/>
          <p:nvPr/>
        </p:nvSpPr>
        <p:spPr>
          <a:xfrm>
            <a:off x="960120" y="4443984"/>
            <a:ext cx="192024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Cloud / Security / Infra</a:t>
            </a:r>
            <a:endParaRPr lang="en-US" sz="1020" dirty="0"/>
          </a:p>
        </p:txBody>
      </p:sp>
      <p:sp>
        <p:nvSpPr>
          <p:cNvPr id="37" name="Text 35"/>
          <p:cNvSpPr/>
          <p:nvPr/>
        </p:nvSpPr>
        <p:spPr>
          <a:xfrm>
            <a:off x="2926080" y="4443984"/>
            <a:ext cx="384048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AWS landing zone, IAM, network, secrets, deployment</a:t>
            </a:r>
            <a:endParaRPr lang="en-US" sz="940" dirty="0"/>
          </a:p>
        </p:txBody>
      </p:sp>
      <p:sp>
        <p:nvSpPr>
          <p:cNvPr id="38" name="Text 36"/>
          <p:cNvSpPr/>
          <p:nvPr/>
        </p:nvSpPr>
        <p:spPr>
          <a:xfrm>
            <a:off x="6812280" y="4443984"/>
            <a:ext cx="10515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4–6</a:t>
            </a:r>
            <a:endParaRPr lang="en-US" sz="1020" dirty="0"/>
          </a:p>
        </p:txBody>
      </p:sp>
      <p:sp>
        <p:nvSpPr>
          <p:cNvPr id="39" name="Text 37"/>
          <p:cNvSpPr/>
          <p:nvPr/>
        </p:nvSpPr>
        <p:spPr>
          <a:xfrm>
            <a:off x="7909560" y="4443984"/>
            <a:ext cx="1965960" cy="438912"/>
          </a:xfrm>
          <a:prstGeom prst="roundRect">
            <a:avLst>
              <a:gd name="adj" fmla="val 16667"/>
            </a:avLst>
          </a:prstGeom>
          <a:solidFill>
            <a:srgbClr val="F1F5F9"/>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Starts day 1</a:t>
            </a:r>
            <a:endParaRPr lang="en-US" sz="1020" dirty="0"/>
          </a:p>
        </p:txBody>
      </p:sp>
      <p:sp>
        <p:nvSpPr>
          <p:cNvPr id="40" name="Text 38"/>
          <p:cNvSpPr/>
          <p:nvPr/>
        </p:nvSpPr>
        <p:spPr>
          <a:xfrm>
            <a:off x="502920" y="4974336"/>
            <a:ext cx="411480" cy="438912"/>
          </a:xfrm>
          <a:prstGeom prst="roundRect">
            <a:avLst>
              <a:gd name="adj" fmla="val 17778"/>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2563EB"/>
                </a:solidFill>
              </a:rPr>
              <a:t>7</a:t>
            </a:r>
            <a:endParaRPr lang="en-US" sz="1020" dirty="0"/>
          </a:p>
        </p:txBody>
      </p:sp>
      <p:sp>
        <p:nvSpPr>
          <p:cNvPr id="41" name="Text 39"/>
          <p:cNvSpPr/>
          <p:nvPr/>
        </p:nvSpPr>
        <p:spPr>
          <a:xfrm>
            <a:off x="960120" y="4974336"/>
            <a:ext cx="192024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AI COE Enablement</a:t>
            </a:r>
            <a:endParaRPr lang="en-US" sz="1020" dirty="0"/>
          </a:p>
        </p:txBody>
      </p:sp>
      <p:sp>
        <p:nvSpPr>
          <p:cNvPr id="42" name="Text 40"/>
          <p:cNvSpPr/>
          <p:nvPr/>
        </p:nvSpPr>
        <p:spPr>
          <a:xfrm>
            <a:off x="2926080" y="4974336"/>
            <a:ext cx="384048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l" indent="0" marL="0">
              <a:buNone/>
            </a:pPr>
            <a:r>
              <a:rPr lang="en-US" sz="940" dirty="0">
                <a:solidFill>
                  <a:srgbClr val="0F172A"/>
                </a:solidFill>
              </a:rPr>
              <a:t>Standards, patterns, coaching, governance guidance</a:t>
            </a:r>
            <a:endParaRPr lang="en-US" sz="940" dirty="0"/>
          </a:p>
        </p:txBody>
      </p:sp>
      <p:sp>
        <p:nvSpPr>
          <p:cNvPr id="43" name="Text 41"/>
          <p:cNvSpPr/>
          <p:nvPr/>
        </p:nvSpPr>
        <p:spPr>
          <a:xfrm>
            <a:off x="6812280" y="4974336"/>
            <a:ext cx="10515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2–4 matrixed</a:t>
            </a:r>
            <a:endParaRPr lang="en-US" sz="1020" dirty="0"/>
          </a:p>
        </p:txBody>
      </p:sp>
      <p:sp>
        <p:nvSpPr>
          <p:cNvPr id="44" name="Text 42"/>
          <p:cNvSpPr/>
          <p:nvPr/>
        </p:nvSpPr>
        <p:spPr>
          <a:xfrm>
            <a:off x="7909560" y="4974336"/>
            <a:ext cx="1965960" cy="438912"/>
          </a:xfrm>
          <a:prstGeom prst="roundRect">
            <a:avLst>
              <a:gd name="adj" fmla="val 16667"/>
            </a:avLst>
          </a:prstGeom>
          <a:solidFill>
            <a:srgbClr val="FFFFFF"/>
          </a:solidFill>
          <a:ln w="12700">
            <a:solidFill>
              <a:srgbClr val="CBD5E1"/>
            </a:solidFill>
          </a:ln>
        </p:spPr>
        <p:txBody>
          <a:bodyPr wrap="square" lIns="635" tIns="635" rIns="635" bIns="635" rtlCol="0" anchor="ctr">
            <a:normAutofit/>
          </a:bodyPr>
          <a:lstStyle/>
          <a:p>
            <a:pPr algn="ctr" indent="0" marL="0">
              <a:buNone/>
            </a:pPr>
            <a:r>
              <a:rPr lang="en-US" sz="1020" dirty="0">
                <a:solidFill>
                  <a:srgbClr val="0F172A"/>
                </a:solidFill>
              </a:rPr>
              <a:t>Advisory / ongoing</a:t>
            </a:r>
            <a:endParaRPr lang="en-US" sz="1020" dirty="0"/>
          </a:p>
        </p:txBody>
      </p:sp>
      <p:sp>
        <p:nvSpPr>
          <p:cNvPr id="45" name="Text 43"/>
          <p:cNvSpPr/>
          <p:nvPr/>
        </p:nvSpPr>
        <p:spPr>
          <a:xfrm>
            <a:off x="685800" y="5870448"/>
            <a:ext cx="10698480" cy="310896"/>
          </a:xfrm>
          <a:prstGeom prst="rect">
            <a:avLst/>
          </a:prstGeom>
          <a:noFill/>
          <a:ln/>
        </p:spPr>
        <p:txBody>
          <a:bodyPr wrap="square" lIns="0" tIns="0" rIns="0" bIns="0" rtlCol="0" anchor="ctr"/>
          <a:lstStyle/>
          <a:p>
            <a:pPr algn="ctr" indent="0" marL="0">
              <a:buNone/>
            </a:pPr>
            <a:r>
              <a:rPr lang="en-US" sz="1600" b="1" dirty="0">
                <a:solidFill>
                  <a:srgbClr val="0F172A"/>
                </a:solidFill>
              </a:rPr>
              <a:t>Recommended funding view: fund stable platform workstreams plus scalable capability pods.</a:t>
            </a:r>
            <a:endParaRPr lang="en-US" sz="1600" dirty="0"/>
          </a:p>
        </p:txBody>
      </p:sp>
      <p:sp>
        <p:nvSpPr>
          <p:cNvPr id="46" name="Text 44"/>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47" name="Text 45"/>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CAPABILITY FACTORY</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How work flows through the organization</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640080" y="2011680"/>
            <a:ext cx="1417320" cy="731520"/>
          </a:xfrm>
          <a:prstGeom prst="roundRect">
            <a:avLst>
              <a:gd name="adj" fmla="val 10000"/>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50" b="1" dirty="0">
                <a:solidFill>
                  <a:srgbClr val="17365D"/>
                </a:solidFill>
              </a:rPr>
              <a:t>Business</a:t>
            </a:r>
            <a:endParaRPr lang="en-US" sz="1250" dirty="0"/>
          </a:p>
          <a:p>
            <a:pPr algn="ctr" indent="0" marL="0">
              <a:buNone/>
            </a:pPr>
            <a:r>
              <a:rPr lang="en-US" sz="1250" b="1" dirty="0">
                <a:solidFill>
                  <a:srgbClr val="17365D"/>
                </a:solidFill>
              </a:rPr>
              <a:t>Objective</a:t>
            </a:r>
            <a:endParaRPr lang="en-US" sz="1250" dirty="0"/>
          </a:p>
        </p:txBody>
      </p:sp>
      <p:sp>
        <p:nvSpPr>
          <p:cNvPr id="6" name="Shape 4"/>
          <p:cNvSpPr/>
          <p:nvPr/>
        </p:nvSpPr>
        <p:spPr>
          <a:xfrm>
            <a:off x="2057400" y="2377440"/>
            <a:ext cx="365760" cy="0"/>
          </a:xfrm>
          <a:prstGeom prst="line">
            <a:avLst/>
          </a:prstGeom>
          <a:noFill/>
          <a:ln w="15240">
            <a:solidFill>
              <a:srgbClr val="475569"/>
            </a:solidFill>
            <a:prstDash val="solid"/>
            <a:headEnd type="none"/>
            <a:tailEnd type="triangle"/>
          </a:ln>
        </p:spPr>
      </p:sp>
      <p:sp>
        <p:nvSpPr>
          <p:cNvPr id="7" name="Text 5"/>
          <p:cNvSpPr/>
          <p:nvPr/>
        </p:nvSpPr>
        <p:spPr>
          <a:xfrm>
            <a:off x="2468880" y="2011680"/>
            <a:ext cx="1417320" cy="731520"/>
          </a:xfrm>
          <a:prstGeom prst="roundRect">
            <a:avLst>
              <a:gd name="adj" fmla="val 10000"/>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Capability</a:t>
            </a:r>
            <a:endParaRPr lang="en-US" sz="1250" dirty="0"/>
          </a:p>
          <a:p>
            <a:pPr algn="ctr" indent="0" marL="0">
              <a:buNone/>
            </a:pPr>
            <a:r>
              <a:rPr lang="en-US" sz="1250" b="1" dirty="0">
                <a:solidFill>
                  <a:srgbClr val="7C3AED"/>
                </a:solidFill>
              </a:rPr>
              <a:t>Spec</a:t>
            </a:r>
            <a:endParaRPr lang="en-US" sz="1250" dirty="0"/>
          </a:p>
        </p:txBody>
      </p:sp>
      <p:sp>
        <p:nvSpPr>
          <p:cNvPr id="8" name="Shape 6"/>
          <p:cNvSpPr/>
          <p:nvPr/>
        </p:nvSpPr>
        <p:spPr>
          <a:xfrm>
            <a:off x="3886200" y="2377440"/>
            <a:ext cx="365760" cy="0"/>
          </a:xfrm>
          <a:prstGeom prst="line">
            <a:avLst/>
          </a:prstGeom>
          <a:noFill/>
          <a:ln w="15240">
            <a:solidFill>
              <a:srgbClr val="475569"/>
            </a:solidFill>
            <a:prstDash val="solid"/>
            <a:headEnd type="none"/>
            <a:tailEnd type="triangle"/>
          </a:ln>
        </p:spPr>
      </p:sp>
      <p:sp>
        <p:nvSpPr>
          <p:cNvPr id="9" name="Text 7"/>
          <p:cNvSpPr/>
          <p:nvPr/>
        </p:nvSpPr>
        <p:spPr>
          <a:xfrm>
            <a:off x="4297680" y="2011680"/>
            <a:ext cx="1417320" cy="731520"/>
          </a:xfrm>
          <a:prstGeom prst="roundRect">
            <a:avLst>
              <a:gd name="adj" fmla="val 10000"/>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AI Dev</a:t>
            </a:r>
            <a:endParaRPr lang="en-US" sz="1250" dirty="0"/>
          </a:p>
          <a:p>
            <a:pPr algn="ctr" indent="0" marL="0">
              <a:buNone/>
            </a:pPr>
            <a:r>
              <a:rPr lang="en-US" sz="1250" b="1" dirty="0">
                <a:solidFill>
                  <a:srgbClr val="7C3AED"/>
                </a:solidFill>
              </a:rPr>
              <a:t>Workflow</a:t>
            </a:r>
            <a:endParaRPr lang="en-US" sz="1250" dirty="0"/>
          </a:p>
        </p:txBody>
      </p:sp>
      <p:sp>
        <p:nvSpPr>
          <p:cNvPr id="10" name="Shape 8"/>
          <p:cNvSpPr/>
          <p:nvPr/>
        </p:nvSpPr>
        <p:spPr>
          <a:xfrm>
            <a:off x="5715000" y="2377440"/>
            <a:ext cx="365760" cy="0"/>
          </a:xfrm>
          <a:prstGeom prst="line">
            <a:avLst/>
          </a:prstGeom>
          <a:noFill/>
          <a:ln w="15240">
            <a:solidFill>
              <a:srgbClr val="475569"/>
            </a:solidFill>
            <a:prstDash val="solid"/>
            <a:headEnd type="none"/>
            <a:tailEnd type="triangle"/>
          </a:ln>
        </p:spPr>
      </p:sp>
      <p:sp>
        <p:nvSpPr>
          <p:cNvPr id="11" name="Text 9"/>
          <p:cNvSpPr/>
          <p:nvPr/>
        </p:nvSpPr>
        <p:spPr>
          <a:xfrm>
            <a:off x="6126480" y="2011680"/>
            <a:ext cx="1417320" cy="731520"/>
          </a:xfrm>
          <a:prstGeom prst="roundRect">
            <a:avLst>
              <a:gd name="adj" fmla="val 10000"/>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250" b="1" dirty="0">
                <a:solidFill>
                  <a:srgbClr val="0F172A"/>
                </a:solidFill>
              </a:rPr>
              <a:t>Implementation</a:t>
            </a:r>
            <a:endParaRPr lang="en-US" sz="1250" dirty="0"/>
          </a:p>
          <a:p>
            <a:pPr algn="ctr" indent="0" marL="0">
              <a:buNone/>
            </a:pPr>
            <a:r>
              <a:rPr lang="en-US" sz="1250" b="1" dirty="0">
                <a:solidFill>
                  <a:srgbClr val="0F172A"/>
                </a:solidFill>
              </a:rPr>
              <a:t>+ Tests</a:t>
            </a:r>
            <a:endParaRPr lang="en-US" sz="1250" dirty="0"/>
          </a:p>
        </p:txBody>
      </p:sp>
      <p:sp>
        <p:nvSpPr>
          <p:cNvPr id="12" name="Shape 10"/>
          <p:cNvSpPr/>
          <p:nvPr/>
        </p:nvSpPr>
        <p:spPr>
          <a:xfrm>
            <a:off x="7543800" y="2377440"/>
            <a:ext cx="365760" cy="0"/>
          </a:xfrm>
          <a:prstGeom prst="line">
            <a:avLst/>
          </a:prstGeom>
          <a:noFill/>
          <a:ln w="15240">
            <a:solidFill>
              <a:srgbClr val="475569"/>
            </a:solidFill>
            <a:prstDash val="solid"/>
            <a:headEnd type="none"/>
            <a:tailEnd type="triangle"/>
          </a:ln>
        </p:spPr>
      </p:sp>
      <p:sp>
        <p:nvSpPr>
          <p:cNvPr id="13" name="Text 11"/>
          <p:cNvSpPr/>
          <p:nvPr/>
        </p:nvSpPr>
        <p:spPr>
          <a:xfrm>
            <a:off x="7955280" y="2011680"/>
            <a:ext cx="1417320" cy="731520"/>
          </a:xfrm>
          <a:prstGeom prst="roundRect">
            <a:avLst>
              <a:gd name="adj" fmla="val 10000"/>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250" b="1" dirty="0">
                <a:solidFill>
                  <a:srgbClr val="EA580C"/>
                </a:solidFill>
              </a:rPr>
              <a:t>Evaluation</a:t>
            </a:r>
            <a:endParaRPr lang="en-US" sz="1250" dirty="0"/>
          </a:p>
          <a:p>
            <a:pPr algn="ctr" indent="0" marL="0">
              <a:buNone/>
            </a:pPr>
            <a:r>
              <a:rPr lang="en-US" sz="1250" b="1" dirty="0">
                <a:solidFill>
                  <a:srgbClr val="EA580C"/>
                </a:solidFill>
              </a:rPr>
              <a:t>Gate</a:t>
            </a:r>
            <a:endParaRPr lang="en-US" sz="1250" dirty="0"/>
          </a:p>
        </p:txBody>
      </p:sp>
      <p:sp>
        <p:nvSpPr>
          <p:cNvPr id="14" name="Shape 12"/>
          <p:cNvSpPr/>
          <p:nvPr/>
        </p:nvSpPr>
        <p:spPr>
          <a:xfrm>
            <a:off x="9372600" y="2377440"/>
            <a:ext cx="365760" cy="0"/>
          </a:xfrm>
          <a:prstGeom prst="line">
            <a:avLst/>
          </a:prstGeom>
          <a:noFill/>
          <a:ln w="15240">
            <a:solidFill>
              <a:srgbClr val="475569"/>
            </a:solidFill>
            <a:prstDash val="solid"/>
            <a:headEnd type="none"/>
            <a:tailEnd type="triangle"/>
          </a:ln>
        </p:spPr>
      </p:sp>
      <p:sp>
        <p:nvSpPr>
          <p:cNvPr id="15" name="Text 13"/>
          <p:cNvSpPr/>
          <p:nvPr/>
        </p:nvSpPr>
        <p:spPr>
          <a:xfrm>
            <a:off x="9784080" y="2011680"/>
            <a:ext cx="1417320" cy="731520"/>
          </a:xfrm>
          <a:prstGeom prst="roundRect">
            <a:avLst>
              <a:gd name="adj" fmla="val 10000"/>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250" b="1" dirty="0">
                <a:solidFill>
                  <a:srgbClr val="0F766E"/>
                </a:solidFill>
              </a:rPr>
              <a:t>Capability</a:t>
            </a:r>
            <a:endParaRPr lang="en-US" sz="1250" dirty="0"/>
          </a:p>
          <a:p>
            <a:pPr algn="ctr" indent="0" marL="0">
              <a:buNone/>
            </a:pPr>
            <a:r>
              <a:rPr lang="en-US" sz="1250" b="1" dirty="0">
                <a:solidFill>
                  <a:srgbClr val="0F766E"/>
                </a:solidFill>
              </a:rPr>
              <a:t>Registry</a:t>
            </a:r>
            <a:endParaRPr lang="en-US" sz="1250" dirty="0"/>
          </a:p>
        </p:txBody>
      </p:sp>
      <p:sp>
        <p:nvSpPr>
          <p:cNvPr id="16" name="Text 14"/>
          <p:cNvSpPr/>
          <p:nvPr/>
        </p:nvSpPr>
        <p:spPr>
          <a:xfrm>
            <a:off x="3886200" y="3977640"/>
            <a:ext cx="4434840" cy="640080"/>
          </a:xfrm>
          <a:prstGeom prst="roundRect">
            <a:avLst>
              <a:gd name="adj" fmla="val 11429"/>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500" b="1" dirty="0">
                <a:solidFill>
                  <a:srgbClr val="0F766E"/>
                </a:solidFill>
              </a:rPr>
              <a:t>Runtime Platform consumes approved capabilities</a:t>
            </a:r>
            <a:endParaRPr lang="en-US" sz="1500" dirty="0"/>
          </a:p>
        </p:txBody>
      </p:sp>
      <p:sp>
        <p:nvSpPr>
          <p:cNvPr id="17" name="Shape 15"/>
          <p:cNvSpPr/>
          <p:nvPr/>
        </p:nvSpPr>
        <p:spPr>
          <a:xfrm>
            <a:off x="10497312" y="2743200"/>
            <a:ext cx="-4096512" cy="1234440"/>
          </a:xfrm>
          <a:prstGeom prst="line">
            <a:avLst/>
          </a:prstGeom>
          <a:noFill/>
          <a:ln w="15240">
            <a:solidFill>
              <a:srgbClr val="0F766E"/>
            </a:solidFill>
            <a:prstDash val="solid"/>
            <a:headEnd type="none"/>
            <a:tailEnd type="triangle"/>
          </a:ln>
        </p:spPr>
      </p:sp>
      <p:sp>
        <p:nvSpPr>
          <p:cNvPr id="18" name="Text 16"/>
          <p:cNvSpPr/>
          <p:nvPr/>
        </p:nvSpPr>
        <p:spPr>
          <a:xfrm>
            <a:off x="1188720" y="5230368"/>
            <a:ext cx="9875520" cy="457200"/>
          </a:xfrm>
          <a:prstGeom prst="roundRect">
            <a:avLst>
              <a:gd name="adj" fmla="val 16000"/>
            </a:avLst>
          </a:prstGeom>
          <a:solidFill>
            <a:srgbClr val="FFFFFF"/>
          </a:solidFill>
          <a:ln w="12700">
            <a:solidFill>
              <a:srgbClr val="7C3AED"/>
            </a:solidFill>
          </a:ln>
        </p:spPr>
        <p:txBody>
          <a:bodyPr wrap="square" lIns="1016" tIns="1016" rIns="1016" bIns="1016" rtlCol="0" anchor="ctr">
            <a:normAutofit/>
          </a:bodyPr>
          <a:lstStyle/>
          <a:p>
            <a:pPr algn="ctr" indent="0" marL="0">
              <a:buNone/>
            </a:pPr>
            <a:r>
              <a:rPr lang="en-US" sz="1220" b="1" dirty="0">
                <a:solidFill>
                  <a:srgbClr val="7C3AED"/>
                </a:solidFill>
              </a:rPr>
              <a:t>AI COE enables across the flow: patterns, templates, model guidance, review playbooks</a:t>
            </a:r>
            <a:endParaRPr lang="en-US" sz="1220" dirty="0"/>
          </a:p>
        </p:txBody>
      </p:sp>
      <p:sp>
        <p:nvSpPr>
          <p:cNvPr id="19" name="Text 17"/>
          <p:cNvSpPr/>
          <p:nvPr/>
        </p:nvSpPr>
        <p:spPr>
          <a:xfrm>
            <a:off x="2971800" y="1115568"/>
            <a:ext cx="6217920" cy="384048"/>
          </a:xfrm>
          <a:prstGeom prst="roundRect">
            <a:avLst>
              <a:gd name="adj" fmla="val 19048"/>
            </a:avLst>
          </a:prstGeom>
          <a:solidFill>
            <a:srgbClr val="E0F2FE"/>
          </a:solidFill>
          <a:ln w="12700">
            <a:solidFill>
              <a:srgbClr val="2563EB"/>
            </a:solidFill>
          </a:ln>
        </p:spPr>
        <p:txBody>
          <a:bodyPr wrap="square" lIns="1016" tIns="1016" rIns="1016" bIns="1016" rtlCol="0" anchor="ctr">
            <a:normAutofit/>
          </a:bodyPr>
          <a:lstStyle/>
          <a:p>
            <a:pPr algn="ctr" indent="0" marL="0">
              <a:buNone/>
            </a:pPr>
            <a:r>
              <a:rPr lang="en-US" sz="1200" b="1" dirty="0">
                <a:solidFill>
                  <a:srgbClr val="2563EB"/>
                </a:solidFill>
              </a:rPr>
              <a:t>Observability + production feedback loop</a:t>
            </a:r>
            <a:endParaRPr lang="en-US" sz="1200" dirty="0"/>
          </a:p>
        </p:txBody>
      </p:sp>
      <p:sp>
        <p:nvSpPr>
          <p:cNvPr id="20" name="Shape 18"/>
          <p:cNvSpPr/>
          <p:nvPr/>
        </p:nvSpPr>
        <p:spPr>
          <a:xfrm>
            <a:off x="8915400" y="1508760"/>
            <a:ext cx="-6812280" cy="0"/>
          </a:xfrm>
          <a:prstGeom prst="line">
            <a:avLst/>
          </a:prstGeom>
          <a:noFill/>
          <a:ln w="15240">
            <a:solidFill>
              <a:srgbClr val="2563EB"/>
            </a:solidFill>
            <a:prstDash val="solid"/>
            <a:headEnd type="none"/>
            <a:tailEnd type="triangle"/>
          </a:ln>
        </p:spPr>
      </p:sp>
      <p:sp>
        <p:nvSpPr>
          <p:cNvPr id="21" name="Text 19"/>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2" name="Text 20"/>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RUNTIME CORE</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Platform Runtime workstream</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685800" y="1353312"/>
            <a:ext cx="2834640" cy="502920"/>
          </a:xfrm>
          <a:prstGeom prst="roundRect">
            <a:avLst>
              <a:gd name="adj" fmla="val 14545"/>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700" b="1" dirty="0">
                <a:solidFill>
                  <a:srgbClr val="0F766E"/>
                </a:solidFill>
              </a:rPr>
              <a:t>Platform Runtime Team</a:t>
            </a:r>
            <a:endParaRPr lang="en-US" sz="1700" dirty="0"/>
          </a:p>
        </p:txBody>
      </p:sp>
      <p:sp>
        <p:nvSpPr>
          <p:cNvPr id="6" name="Text 4"/>
          <p:cNvSpPr/>
          <p:nvPr/>
        </p:nvSpPr>
        <p:spPr>
          <a:xfrm>
            <a:off x="777240" y="2029968"/>
            <a:ext cx="4937760" cy="2011680"/>
          </a:xfrm>
          <a:prstGeom prst="rect">
            <a:avLst/>
          </a:prstGeom>
          <a:noFill/>
          <a:ln/>
        </p:spPr>
        <p:txBody>
          <a:bodyPr wrap="square" lIns="508" tIns="508" rIns="508" bIns="508" rtlCol="0" anchor="ctr">
            <a:normAutofit/>
          </a:bodyPr>
          <a:lstStyle/>
          <a:p>
            <a:r>
              <a:rPr lang="en-US" sz="1300" dirty="0">
                <a:solidFill>
                  <a:srgbClr val="0F172A"/>
                </a:solidFill>
              </a:rPr>
              <a:t>Conversational orchestration with LangGraph</a:t>
            </a:r>
            <a:endParaRPr lang="en-US" sz="1300" dirty="0"/>
          </a:p>
          <a:p>
            <a:r>
              <a:rPr lang="en-US" sz="1300" dirty="0">
                <a:solidFill>
                  <a:srgbClr val="0F172A"/>
                </a:solidFill>
              </a:rPr>
              <a:t>Session, state, checkpoint, and goal management</a:t>
            </a:r>
            <a:endParaRPr lang="en-US" sz="1300" dirty="0"/>
          </a:p>
          <a:p>
            <a:r>
              <a:rPr lang="en-US" sz="1300" dirty="0">
                <a:solidFill>
                  <a:srgbClr val="0F172A"/>
                </a:solidFill>
              </a:rPr>
              <a:t>Model provider abstraction: start with OpenAI; remain provider-neutral</a:t>
            </a:r>
            <a:endParaRPr lang="en-US" sz="1300" dirty="0"/>
          </a:p>
          <a:p>
            <a:r>
              <a:rPr lang="en-US" sz="1300" dirty="0">
                <a:solidFill>
                  <a:srgbClr val="0F172A"/>
                </a:solidFill>
              </a:rPr>
              <a:t>Capability runtime and tool execution contracts</a:t>
            </a:r>
            <a:endParaRPr lang="en-US" sz="1300" dirty="0"/>
          </a:p>
          <a:p>
            <a:r>
              <a:rPr lang="en-US" sz="1300" dirty="0">
                <a:solidFill>
                  <a:srgbClr val="0F172A"/>
                </a:solidFill>
              </a:rPr>
              <a:t>Response composer, guardrail integration, and channel adapters</a:t>
            </a:r>
            <a:endParaRPr lang="en-US" sz="1300" dirty="0"/>
          </a:p>
        </p:txBody>
      </p:sp>
      <p:sp>
        <p:nvSpPr>
          <p:cNvPr id="7" name="Text 5"/>
          <p:cNvSpPr/>
          <p:nvPr/>
        </p:nvSpPr>
        <p:spPr>
          <a:xfrm>
            <a:off x="6446520" y="1353312"/>
            <a:ext cx="4526280" cy="502920"/>
          </a:xfrm>
          <a:prstGeom prst="roundRect">
            <a:avLst>
              <a:gd name="adj" fmla="val 14545"/>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700" b="1" dirty="0">
                <a:solidFill>
                  <a:srgbClr val="0F172A"/>
                </a:solidFill>
              </a:rPr>
              <a:t>Runtime boundaries</a:t>
            </a:r>
            <a:endParaRPr lang="en-US" sz="1700" dirty="0"/>
          </a:p>
        </p:txBody>
      </p:sp>
      <p:sp>
        <p:nvSpPr>
          <p:cNvPr id="8" name="Text 6"/>
          <p:cNvSpPr/>
          <p:nvPr/>
        </p:nvSpPr>
        <p:spPr>
          <a:xfrm>
            <a:off x="6400800" y="2103120"/>
            <a:ext cx="2331720" cy="777240"/>
          </a:xfrm>
          <a:prstGeom prst="roundRect">
            <a:avLst>
              <a:gd name="adj" fmla="val 9412"/>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150" b="1" dirty="0">
                <a:solidFill>
                  <a:srgbClr val="0F766E"/>
                </a:solidFill>
              </a:rPr>
              <a:t>Conversation Layer</a:t>
            </a:r>
            <a:endParaRPr lang="en-US" sz="1150" dirty="0"/>
          </a:p>
          <a:p>
            <a:pPr algn="ctr" indent="0" marL="0">
              <a:buNone/>
            </a:pPr>
            <a:r>
              <a:rPr lang="en-US" sz="1150" b="1" dirty="0">
                <a:solidFill>
                  <a:srgbClr val="0F766E"/>
                </a:solidFill>
              </a:rPr>
              <a:t>understanding + orchestration</a:t>
            </a:r>
            <a:endParaRPr lang="en-US" sz="1150" dirty="0"/>
          </a:p>
        </p:txBody>
      </p:sp>
      <p:sp>
        <p:nvSpPr>
          <p:cNvPr id="9" name="Text 7"/>
          <p:cNvSpPr/>
          <p:nvPr/>
        </p:nvSpPr>
        <p:spPr>
          <a:xfrm>
            <a:off x="9281160" y="2103120"/>
            <a:ext cx="2331720" cy="777240"/>
          </a:xfrm>
          <a:prstGeom prst="roundRect">
            <a:avLst>
              <a:gd name="adj" fmla="val 9412"/>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150" b="1" dirty="0">
                <a:solidFill>
                  <a:srgbClr val="EA580C"/>
                </a:solidFill>
              </a:rPr>
              <a:t>Capability Runtime</a:t>
            </a:r>
            <a:endParaRPr lang="en-US" sz="1150" dirty="0"/>
          </a:p>
          <a:p>
            <a:pPr algn="ctr" indent="0" marL="0">
              <a:buNone/>
            </a:pPr>
            <a:r>
              <a:rPr lang="en-US" sz="1150" b="1" dirty="0">
                <a:solidFill>
                  <a:srgbClr val="EA580C"/>
                </a:solidFill>
              </a:rPr>
              <a:t>skills, tools, contracts</a:t>
            </a:r>
            <a:endParaRPr lang="en-US" sz="1150" dirty="0"/>
          </a:p>
        </p:txBody>
      </p:sp>
      <p:sp>
        <p:nvSpPr>
          <p:cNvPr id="10" name="Text 8"/>
          <p:cNvSpPr/>
          <p:nvPr/>
        </p:nvSpPr>
        <p:spPr>
          <a:xfrm>
            <a:off x="6400800" y="3456432"/>
            <a:ext cx="2331720" cy="777240"/>
          </a:xfrm>
          <a:prstGeom prst="roundRect">
            <a:avLst>
              <a:gd name="adj" fmla="val 9412"/>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150" b="1" dirty="0">
                <a:solidFill>
                  <a:srgbClr val="17365D"/>
                </a:solidFill>
              </a:rPr>
              <a:t>State Stores</a:t>
            </a:r>
            <a:endParaRPr lang="en-US" sz="1150" dirty="0"/>
          </a:p>
          <a:p>
            <a:pPr algn="ctr" indent="0" marL="0">
              <a:buNone/>
            </a:pPr>
            <a:r>
              <a:rPr lang="en-US" sz="1150" b="1" dirty="0">
                <a:solidFill>
                  <a:srgbClr val="17365D"/>
                </a:solidFill>
              </a:rPr>
              <a:t>session, goals, traces</a:t>
            </a:r>
            <a:endParaRPr lang="en-US" sz="1150" dirty="0"/>
          </a:p>
        </p:txBody>
      </p:sp>
      <p:sp>
        <p:nvSpPr>
          <p:cNvPr id="11" name="Text 9"/>
          <p:cNvSpPr/>
          <p:nvPr/>
        </p:nvSpPr>
        <p:spPr>
          <a:xfrm>
            <a:off x="9281160" y="3456432"/>
            <a:ext cx="2331720" cy="777240"/>
          </a:xfrm>
          <a:prstGeom prst="roundRect">
            <a:avLst>
              <a:gd name="adj" fmla="val 9412"/>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150" b="1" dirty="0">
                <a:solidFill>
                  <a:srgbClr val="0F172A"/>
                </a:solidFill>
              </a:rPr>
              <a:t>Enterprise APIs</a:t>
            </a:r>
            <a:endParaRPr lang="en-US" sz="1150" dirty="0"/>
          </a:p>
          <a:p>
            <a:pPr algn="ctr" indent="0" marL="0">
              <a:buNone/>
            </a:pPr>
            <a:r>
              <a:rPr lang="en-US" sz="1150" b="1" dirty="0">
                <a:solidFill>
                  <a:srgbClr val="0F172A"/>
                </a:solidFill>
              </a:rPr>
              <a:t>core systems</a:t>
            </a:r>
            <a:endParaRPr lang="en-US" sz="1150" dirty="0"/>
          </a:p>
        </p:txBody>
      </p:sp>
      <p:sp>
        <p:nvSpPr>
          <p:cNvPr id="12" name="Shape 10"/>
          <p:cNvSpPr/>
          <p:nvPr/>
        </p:nvSpPr>
        <p:spPr>
          <a:xfrm>
            <a:off x="8732520" y="2496312"/>
            <a:ext cx="548640" cy="0"/>
          </a:xfrm>
          <a:prstGeom prst="line">
            <a:avLst/>
          </a:prstGeom>
          <a:noFill/>
          <a:ln w="15240">
            <a:solidFill>
              <a:srgbClr val="0F766E"/>
            </a:solidFill>
            <a:prstDash val="solid"/>
            <a:headEnd type="none"/>
            <a:tailEnd type="triangle"/>
          </a:ln>
        </p:spPr>
      </p:sp>
      <p:sp>
        <p:nvSpPr>
          <p:cNvPr id="13" name="Shape 11"/>
          <p:cNvSpPr/>
          <p:nvPr/>
        </p:nvSpPr>
        <p:spPr>
          <a:xfrm>
            <a:off x="7562088" y="2880360"/>
            <a:ext cx="0" cy="576072"/>
          </a:xfrm>
          <a:prstGeom prst="line">
            <a:avLst/>
          </a:prstGeom>
          <a:noFill/>
          <a:ln w="15240">
            <a:solidFill>
              <a:srgbClr val="17365D"/>
            </a:solidFill>
            <a:prstDash val="solid"/>
            <a:headEnd type="none"/>
            <a:tailEnd type="triangle"/>
          </a:ln>
        </p:spPr>
      </p:sp>
      <p:sp>
        <p:nvSpPr>
          <p:cNvPr id="14" name="Shape 12"/>
          <p:cNvSpPr/>
          <p:nvPr/>
        </p:nvSpPr>
        <p:spPr>
          <a:xfrm>
            <a:off x="10442448" y="2880360"/>
            <a:ext cx="0" cy="576072"/>
          </a:xfrm>
          <a:prstGeom prst="line">
            <a:avLst/>
          </a:prstGeom>
          <a:noFill/>
          <a:ln w="15240">
            <a:solidFill>
              <a:srgbClr val="EA580C"/>
            </a:solidFill>
            <a:prstDash val="solid"/>
            <a:headEnd type="none"/>
            <a:tailEnd type="triangle"/>
          </a:ln>
        </p:spPr>
      </p:sp>
      <p:sp>
        <p:nvSpPr>
          <p:cNvPr id="15" name="Text 13"/>
          <p:cNvSpPr/>
          <p:nvPr/>
        </p:nvSpPr>
        <p:spPr>
          <a:xfrm>
            <a:off x="2148840" y="5715000"/>
            <a:ext cx="7863840" cy="457200"/>
          </a:xfrm>
          <a:prstGeom prst="roundRect">
            <a:avLst>
              <a:gd name="adj" fmla="val 16000"/>
            </a:avLst>
          </a:prstGeom>
          <a:solidFill>
            <a:srgbClr val="FFFFFF"/>
          </a:solidFill>
          <a:ln w="12700">
            <a:solidFill>
              <a:srgbClr val="0F766E"/>
            </a:solidFill>
          </a:ln>
        </p:spPr>
        <p:txBody>
          <a:bodyPr wrap="square" lIns="1016" tIns="1016" rIns="1016" bIns="1016" rtlCol="0" anchor="ctr">
            <a:normAutofit/>
          </a:bodyPr>
          <a:lstStyle/>
          <a:p>
            <a:pPr algn="ctr" indent="0" marL="0">
              <a:buNone/>
            </a:pPr>
            <a:r>
              <a:rPr lang="en-US" sz="1500" b="1" dirty="0">
                <a:solidFill>
                  <a:srgbClr val="0F766E"/>
                </a:solidFill>
              </a:rPr>
              <a:t>North star: conversationally adaptive, operationally governed</a:t>
            </a:r>
            <a:endParaRPr lang="en-US" sz="1500" dirty="0"/>
          </a:p>
        </p:txBody>
      </p:sp>
      <p:sp>
        <p:nvSpPr>
          <p:cNvPr id="16" name="Text 14"/>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7" name="Text 15"/>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CAPABILITY DELIVERY</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Capability pods: business skills built from specs</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731520" y="1417320"/>
            <a:ext cx="2194560" cy="685800"/>
          </a:xfrm>
          <a:prstGeom prst="roundRect">
            <a:avLst>
              <a:gd name="adj" fmla="val 10667"/>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50" b="1" dirty="0">
                <a:solidFill>
                  <a:srgbClr val="17365D"/>
                </a:solidFill>
              </a:rPr>
              <a:t>Business-owned capability spec</a:t>
            </a:r>
            <a:endParaRPr lang="en-US" sz="1250" dirty="0"/>
          </a:p>
        </p:txBody>
      </p:sp>
      <p:sp>
        <p:nvSpPr>
          <p:cNvPr id="6" name="Text 4"/>
          <p:cNvSpPr/>
          <p:nvPr/>
        </p:nvSpPr>
        <p:spPr>
          <a:xfrm>
            <a:off x="3337560" y="1417320"/>
            <a:ext cx="2194560" cy="685800"/>
          </a:xfrm>
          <a:prstGeom prst="roundRect">
            <a:avLst>
              <a:gd name="adj" fmla="val 10667"/>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Conversation contract</a:t>
            </a:r>
            <a:endParaRPr lang="en-US" sz="1250" dirty="0"/>
          </a:p>
          <a:p>
            <a:pPr algn="ctr" indent="0" marL="0">
              <a:buNone/>
            </a:pPr>
            <a:r>
              <a:rPr lang="en-US" sz="1250" b="1" dirty="0">
                <a:solidFill>
                  <a:srgbClr val="7C3AED"/>
                </a:solidFill>
              </a:rPr>
              <a:t>what info is needed</a:t>
            </a:r>
            <a:endParaRPr lang="en-US" sz="1250" dirty="0"/>
          </a:p>
        </p:txBody>
      </p:sp>
      <p:sp>
        <p:nvSpPr>
          <p:cNvPr id="7" name="Text 5"/>
          <p:cNvSpPr/>
          <p:nvPr/>
        </p:nvSpPr>
        <p:spPr>
          <a:xfrm>
            <a:off x="5943600" y="1417320"/>
            <a:ext cx="2194560" cy="685800"/>
          </a:xfrm>
          <a:prstGeom prst="roundRect">
            <a:avLst>
              <a:gd name="adj" fmla="val 10667"/>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250" b="1" dirty="0">
                <a:solidFill>
                  <a:srgbClr val="EA580C"/>
                </a:solidFill>
              </a:rPr>
              <a:t>Execution contract</a:t>
            </a:r>
            <a:endParaRPr lang="en-US" sz="1250" dirty="0"/>
          </a:p>
          <a:p>
            <a:pPr algn="ctr" indent="0" marL="0">
              <a:buNone/>
            </a:pPr>
            <a:r>
              <a:rPr lang="en-US" sz="1250" b="1" dirty="0">
                <a:solidFill>
                  <a:srgbClr val="EA580C"/>
                </a:solidFill>
              </a:rPr>
              <a:t>what tools are allowed</a:t>
            </a:r>
            <a:endParaRPr lang="en-US" sz="1250" dirty="0"/>
          </a:p>
        </p:txBody>
      </p:sp>
      <p:sp>
        <p:nvSpPr>
          <p:cNvPr id="8" name="Text 6"/>
          <p:cNvSpPr/>
          <p:nvPr/>
        </p:nvSpPr>
        <p:spPr>
          <a:xfrm>
            <a:off x="8549640" y="1417320"/>
            <a:ext cx="2194560" cy="685800"/>
          </a:xfrm>
          <a:prstGeom prst="roundRect">
            <a:avLst>
              <a:gd name="adj" fmla="val 10667"/>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250" b="1" dirty="0">
                <a:solidFill>
                  <a:srgbClr val="0F766E"/>
                </a:solidFill>
              </a:rPr>
              <a:t>Response contract</a:t>
            </a:r>
            <a:endParaRPr lang="en-US" sz="1250" dirty="0"/>
          </a:p>
          <a:p>
            <a:pPr algn="ctr" indent="0" marL="0">
              <a:buNone/>
            </a:pPr>
            <a:r>
              <a:rPr lang="en-US" sz="1250" b="1" dirty="0">
                <a:solidFill>
                  <a:srgbClr val="0F766E"/>
                </a:solidFill>
              </a:rPr>
              <a:t>templates + disclosures</a:t>
            </a:r>
            <a:endParaRPr lang="en-US" sz="1250" dirty="0"/>
          </a:p>
        </p:txBody>
      </p:sp>
      <p:sp>
        <p:nvSpPr>
          <p:cNvPr id="9" name="Shape 7"/>
          <p:cNvSpPr/>
          <p:nvPr/>
        </p:nvSpPr>
        <p:spPr>
          <a:xfrm>
            <a:off x="2926080" y="1755648"/>
            <a:ext cx="411480" cy="0"/>
          </a:xfrm>
          <a:prstGeom prst="line">
            <a:avLst/>
          </a:prstGeom>
          <a:noFill/>
          <a:ln w="15240">
            <a:solidFill>
              <a:srgbClr val="475569"/>
            </a:solidFill>
            <a:prstDash val="solid"/>
            <a:headEnd type="none"/>
            <a:tailEnd type="triangle"/>
          </a:ln>
        </p:spPr>
      </p:sp>
      <p:sp>
        <p:nvSpPr>
          <p:cNvPr id="10" name="Shape 8"/>
          <p:cNvSpPr/>
          <p:nvPr/>
        </p:nvSpPr>
        <p:spPr>
          <a:xfrm>
            <a:off x="5532120" y="1755648"/>
            <a:ext cx="411480" cy="0"/>
          </a:xfrm>
          <a:prstGeom prst="line">
            <a:avLst/>
          </a:prstGeom>
          <a:noFill/>
          <a:ln w="15240">
            <a:solidFill>
              <a:srgbClr val="475569"/>
            </a:solidFill>
            <a:prstDash val="solid"/>
            <a:headEnd type="none"/>
            <a:tailEnd type="triangle"/>
          </a:ln>
        </p:spPr>
      </p:sp>
      <p:sp>
        <p:nvSpPr>
          <p:cNvPr id="11" name="Shape 9"/>
          <p:cNvSpPr/>
          <p:nvPr/>
        </p:nvSpPr>
        <p:spPr>
          <a:xfrm>
            <a:off x="8138160" y="1755648"/>
            <a:ext cx="411480" cy="0"/>
          </a:xfrm>
          <a:prstGeom prst="line">
            <a:avLst/>
          </a:prstGeom>
          <a:noFill/>
          <a:ln w="15240">
            <a:solidFill>
              <a:srgbClr val="475569"/>
            </a:solidFill>
            <a:prstDash val="solid"/>
            <a:headEnd type="none"/>
            <a:tailEnd type="triangle"/>
          </a:ln>
        </p:spPr>
      </p:sp>
      <p:sp>
        <p:nvSpPr>
          <p:cNvPr id="12" name="Text 10"/>
          <p:cNvSpPr/>
          <p:nvPr/>
        </p:nvSpPr>
        <p:spPr>
          <a:xfrm>
            <a:off x="731520" y="2743200"/>
            <a:ext cx="3108960" cy="256032"/>
          </a:xfrm>
          <a:prstGeom prst="rect">
            <a:avLst/>
          </a:prstGeom>
          <a:noFill/>
          <a:ln/>
        </p:spPr>
        <p:txBody>
          <a:bodyPr wrap="square" lIns="0" tIns="0" rIns="0" bIns="0" rtlCol="0" anchor="ctr"/>
          <a:lstStyle/>
          <a:p>
            <a:pPr indent="0" marL="0">
              <a:buNone/>
            </a:pPr>
            <a:r>
              <a:rPr lang="en-US" sz="1600" b="1" dirty="0">
                <a:solidFill>
                  <a:srgbClr val="0F172A"/>
                </a:solidFill>
              </a:rPr>
              <a:t>Capability pod composition</a:t>
            </a:r>
            <a:endParaRPr lang="en-US" sz="1600" dirty="0"/>
          </a:p>
        </p:txBody>
      </p:sp>
      <p:sp>
        <p:nvSpPr>
          <p:cNvPr id="13" name="Text 11"/>
          <p:cNvSpPr/>
          <p:nvPr/>
        </p:nvSpPr>
        <p:spPr>
          <a:xfrm>
            <a:off x="731520" y="3246120"/>
            <a:ext cx="2011680" cy="566928"/>
          </a:xfrm>
          <a:prstGeom prst="roundRect">
            <a:avLst>
              <a:gd name="adj" fmla="val 12903"/>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Product / SME</a:t>
            </a:r>
            <a:endParaRPr lang="en-US" sz="1200" dirty="0"/>
          </a:p>
        </p:txBody>
      </p:sp>
      <p:sp>
        <p:nvSpPr>
          <p:cNvPr id="14" name="Text 12"/>
          <p:cNvSpPr/>
          <p:nvPr/>
        </p:nvSpPr>
        <p:spPr>
          <a:xfrm>
            <a:off x="2971800" y="3246120"/>
            <a:ext cx="2011680" cy="566928"/>
          </a:xfrm>
          <a:prstGeom prst="roundRect">
            <a:avLst>
              <a:gd name="adj" fmla="val 12903"/>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00" b="1" dirty="0">
                <a:solidFill>
                  <a:srgbClr val="7C3AED"/>
                </a:solidFill>
              </a:rPr>
              <a:t>Conversation designer</a:t>
            </a:r>
            <a:endParaRPr lang="en-US" sz="1200" dirty="0"/>
          </a:p>
        </p:txBody>
      </p:sp>
      <p:sp>
        <p:nvSpPr>
          <p:cNvPr id="15" name="Text 13"/>
          <p:cNvSpPr/>
          <p:nvPr/>
        </p:nvSpPr>
        <p:spPr>
          <a:xfrm>
            <a:off x="5212080" y="3246120"/>
            <a:ext cx="2011680" cy="566928"/>
          </a:xfrm>
          <a:prstGeom prst="roundRect">
            <a:avLst>
              <a:gd name="adj" fmla="val 12903"/>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200" b="1" dirty="0">
                <a:solidFill>
                  <a:srgbClr val="EA580C"/>
                </a:solidFill>
              </a:rPr>
              <a:t>Engineer / tool adapter</a:t>
            </a:r>
            <a:endParaRPr lang="en-US" sz="1200" dirty="0"/>
          </a:p>
        </p:txBody>
      </p:sp>
      <p:sp>
        <p:nvSpPr>
          <p:cNvPr id="16" name="Text 14"/>
          <p:cNvSpPr/>
          <p:nvPr/>
        </p:nvSpPr>
        <p:spPr>
          <a:xfrm>
            <a:off x="7452360" y="3246120"/>
            <a:ext cx="2011680" cy="566928"/>
          </a:xfrm>
          <a:prstGeom prst="roundRect">
            <a:avLst>
              <a:gd name="adj" fmla="val 12903"/>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200" b="1" dirty="0">
                <a:solidFill>
                  <a:srgbClr val="0F172A"/>
                </a:solidFill>
              </a:rPr>
              <a:t>AI Quality engineer</a:t>
            </a:r>
            <a:endParaRPr lang="en-US" sz="1200" dirty="0"/>
          </a:p>
        </p:txBody>
      </p:sp>
      <p:sp>
        <p:nvSpPr>
          <p:cNvPr id="17" name="Text 15"/>
          <p:cNvSpPr/>
          <p:nvPr/>
        </p:nvSpPr>
        <p:spPr>
          <a:xfrm>
            <a:off x="9692640" y="3246120"/>
            <a:ext cx="1691640" cy="566928"/>
          </a:xfrm>
          <a:prstGeom prst="roundRect">
            <a:avLst>
              <a:gd name="adj" fmla="val 12903"/>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200" b="1" dirty="0">
                <a:solidFill>
                  <a:srgbClr val="0F766E"/>
                </a:solidFill>
              </a:rPr>
              <a:t>Platform partner</a:t>
            </a:r>
            <a:endParaRPr lang="en-US" sz="1200" dirty="0"/>
          </a:p>
        </p:txBody>
      </p:sp>
      <p:sp>
        <p:nvSpPr>
          <p:cNvPr id="18" name="Text 16"/>
          <p:cNvSpPr/>
          <p:nvPr/>
        </p:nvSpPr>
        <p:spPr>
          <a:xfrm>
            <a:off x="914400" y="4251960"/>
            <a:ext cx="10058400" cy="960120"/>
          </a:xfrm>
          <a:prstGeom prst="rect">
            <a:avLst/>
          </a:prstGeom>
          <a:noFill/>
          <a:ln/>
        </p:spPr>
        <p:txBody>
          <a:bodyPr wrap="square" lIns="508" tIns="508" rIns="508" bIns="508" rtlCol="0" anchor="ctr">
            <a:normAutofit/>
          </a:bodyPr>
          <a:lstStyle/>
          <a:p>
            <a:r>
              <a:rPr lang="en-US" sz="1320" dirty="0">
                <a:solidFill>
                  <a:srgbClr val="0F172A"/>
                </a:solidFill>
              </a:rPr>
              <a:t>Each pod builds one or more approved capabilities</a:t>
            </a:r>
            <a:endParaRPr lang="en-US" sz="1320" dirty="0"/>
          </a:p>
          <a:p>
            <a:r>
              <a:rPr lang="en-US" sz="1320" dirty="0">
                <a:solidFill>
                  <a:srgbClr val="0F172A"/>
                </a:solidFill>
              </a:rPr>
              <a:t>Pods work from specs; they do not rewrite the central orchestrator</a:t>
            </a:r>
            <a:endParaRPr lang="en-US" sz="1320" dirty="0"/>
          </a:p>
          <a:p>
            <a:r>
              <a:rPr lang="en-US" sz="1320" dirty="0">
                <a:solidFill>
                  <a:srgbClr val="0F172A"/>
                </a:solidFill>
              </a:rPr>
              <a:t>Business participates in acceptance criteria, scenario review, and release readiness</a:t>
            </a:r>
            <a:endParaRPr lang="en-US" sz="1320" dirty="0"/>
          </a:p>
        </p:txBody>
      </p:sp>
      <p:sp>
        <p:nvSpPr>
          <p:cNvPr id="19" name="Text 17"/>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0" name="Text 18"/>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AI-ASSISTED DELIVERY</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Development-time AI workflow: spec-driven capability creation</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685800" y="1417320"/>
            <a:ext cx="2148840" cy="658368"/>
          </a:xfrm>
          <a:prstGeom prst="roundRect">
            <a:avLst>
              <a:gd name="adj" fmla="val 11111"/>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1. Draft capability spec</a:t>
            </a:r>
            <a:endParaRPr lang="en-US" sz="1250" dirty="0"/>
          </a:p>
        </p:txBody>
      </p:sp>
      <p:sp>
        <p:nvSpPr>
          <p:cNvPr id="6" name="Text 4"/>
          <p:cNvSpPr/>
          <p:nvPr/>
        </p:nvSpPr>
        <p:spPr>
          <a:xfrm>
            <a:off x="3063240" y="1417320"/>
            <a:ext cx="2148840" cy="658368"/>
          </a:xfrm>
          <a:prstGeom prst="roundRect">
            <a:avLst>
              <a:gd name="adj" fmla="val 11111"/>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2. Generate implementation plan</a:t>
            </a:r>
            <a:endParaRPr lang="en-US" sz="1250" dirty="0"/>
          </a:p>
        </p:txBody>
      </p:sp>
      <p:sp>
        <p:nvSpPr>
          <p:cNvPr id="7" name="Text 5"/>
          <p:cNvSpPr/>
          <p:nvPr/>
        </p:nvSpPr>
        <p:spPr>
          <a:xfrm>
            <a:off x="5440680" y="1417320"/>
            <a:ext cx="2148840" cy="658368"/>
          </a:xfrm>
          <a:prstGeom prst="roundRect">
            <a:avLst>
              <a:gd name="adj" fmla="val 11111"/>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3. Build code + tests</a:t>
            </a:r>
            <a:endParaRPr lang="en-US" sz="1250" dirty="0"/>
          </a:p>
        </p:txBody>
      </p:sp>
      <p:sp>
        <p:nvSpPr>
          <p:cNvPr id="8" name="Text 6"/>
          <p:cNvSpPr/>
          <p:nvPr/>
        </p:nvSpPr>
        <p:spPr>
          <a:xfrm>
            <a:off x="7818120" y="1417320"/>
            <a:ext cx="2148840" cy="658368"/>
          </a:xfrm>
          <a:prstGeom prst="roundRect">
            <a:avLst>
              <a:gd name="adj" fmla="val 11111"/>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250" b="1" dirty="0">
                <a:solidFill>
                  <a:srgbClr val="7C3AED"/>
                </a:solidFill>
              </a:rPr>
              <a:t>4. Validate against spec</a:t>
            </a:r>
            <a:endParaRPr lang="en-US" sz="1250" dirty="0"/>
          </a:p>
        </p:txBody>
      </p:sp>
      <p:sp>
        <p:nvSpPr>
          <p:cNvPr id="9" name="Text 7"/>
          <p:cNvSpPr/>
          <p:nvPr/>
        </p:nvSpPr>
        <p:spPr>
          <a:xfrm>
            <a:off x="10195560" y="1417320"/>
            <a:ext cx="1371600" cy="658368"/>
          </a:xfrm>
          <a:prstGeom prst="roundRect">
            <a:avLst>
              <a:gd name="adj" fmla="val 11111"/>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150" b="1" dirty="0">
                <a:solidFill>
                  <a:srgbClr val="0F766E"/>
                </a:solidFill>
              </a:rPr>
              <a:t>5. Publish to registry</a:t>
            </a:r>
            <a:endParaRPr lang="en-US" sz="1150" dirty="0"/>
          </a:p>
        </p:txBody>
      </p:sp>
      <p:sp>
        <p:nvSpPr>
          <p:cNvPr id="10" name="Shape 8"/>
          <p:cNvSpPr/>
          <p:nvPr/>
        </p:nvSpPr>
        <p:spPr>
          <a:xfrm>
            <a:off x="2834640" y="1746504"/>
            <a:ext cx="228600" cy="0"/>
          </a:xfrm>
          <a:prstGeom prst="line">
            <a:avLst/>
          </a:prstGeom>
          <a:noFill/>
          <a:ln w="15240">
            <a:solidFill>
              <a:srgbClr val="7C3AED"/>
            </a:solidFill>
            <a:prstDash val="solid"/>
            <a:headEnd type="none"/>
            <a:tailEnd type="triangle"/>
          </a:ln>
        </p:spPr>
      </p:sp>
      <p:sp>
        <p:nvSpPr>
          <p:cNvPr id="11" name="Shape 9"/>
          <p:cNvSpPr/>
          <p:nvPr/>
        </p:nvSpPr>
        <p:spPr>
          <a:xfrm>
            <a:off x="5212080" y="1746504"/>
            <a:ext cx="228600" cy="0"/>
          </a:xfrm>
          <a:prstGeom prst="line">
            <a:avLst/>
          </a:prstGeom>
          <a:noFill/>
          <a:ln w="15240">
            <a:solidFill>
              <a:srgbClr val="7C3AED"/>
            </a:solidFill>
            <a:prstDash val="solid"/>
            <a:headEnd type="none"/>
            <a:tailEnd type="triangle"/>
          </a:ln>
        </p:spPr>
      </p:sp>
      <p:sp>
        <p:nvSpPr>
          <p:cNvPr id="12" name="Shape 10"/>
          <p:cNvSpPr/>
          <p:nvPr/>
        </p:nvSpPr>
        <p:spPr>
          <a:xfrm>
            <a:off x="7589520" y="1746504"/>
            <a:ext cx="228600" cy="0"/>
          </a:xfrm>
          <a:prstGeom prst="line">
            <a:avLst/>
          </a:prstGeom>
          <a:noFill/>
          <a:ln w="15240">
            <a:solidFill>
              <a:srgbClr val="7C3AED"/>
            </a:solidFill>
            <a:prstDash val="solid"/>
            <a:headEnd type="none"/>
            <a:tailEnd type="triangle"/>
          </a:ln>
        </p:spPr>
      </p:sp>
      <p:sp>
        <p:nvSpPr>
          <p:cNvPr id="13" name="Shape 11"/>
          <p:cNvSpPr/>
          <p:nvPr/>
        </p:nvSpPr>
        <p:spPr>
          <a:xfrm>
            <a:off x="9966960" y="1746504"/>
            <a:ext cx="228600" cy="0"/>
          </a:xfrm>
          <a:prstGeom prst="line">
            <a:avLst/>
          </a:prstGeom>
          <a:noFill/>
          <a:ln w="15240">
            <a:solidFill>
              <a:srgbClr val="7C3AED"/>
            </a:solidFill>
            <a:prstDash val="solid"/>
            <a:headEnd type="none"/>
            <a:tailEnd type="triangle"/>
          </a:ln>
        </p:spPr>
      </p:sp>
      <p:sp>
        <p:nvSpPr>
          <p:cNvPr id="14" name="Text 12"/>
          <p:cNvSpPr/>
          <p:nvPr/>
        </p:nvSpPr>
        <p:spPr>
          <a:xfrm>
            <a:off x="822960" y="2743200"/>
            <a:ext cx="7315200" cy="256032"/>
          </a:xfrm>
          <a:prstGeom prst="rect">
            <a:avLst/>
          </a:prstGeom>
          <a:noFill/>
          <a:ln/>
        </p:spPr>
        <p:txBody>
          <a:bodyPr wrap="square" lIns="0" tIns="0" rIns="0" bIns="0" rtlCol="0" anchor="ctr"/>
          <a:lstStyle/>
          <a:p>
            <a:pPr indent="0" marL="0">
              <a:buNone/>
            </a:pPr>
            <a:r>
              <a:rPr lang="en-US" sz="1600" b="1" dirty="0">
                <a:solidFill>
                  <a:srgbClr val="0F172A"/>
                </a:solidFill>
              </a:rPr>
              <a:t>The AI development agent should have explicit skills of its own:</a:t>
            </a:r>
            <a:endParaRPr lang="en-US" sz="1600" dirty="0"/>
          </a:p>
        </p:txBody>
      </p:sp>
      <p:sp>
        <p:nvSpPr>
          <p:cNvPr id="15" name="Text 13"/>
          <p:cNvSpPr/>
          <p:nvPr/>
        </p:nvSpPr>
        <p:spPr>
          <a:xfrm>
            <a:off x="914400" y="3310128"/>
            <a:ext cx="182880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Spec Writer</a:t>
            </a:r>
            <a:endParaRPr lang="en-US" sz="1200" dirty="0"/>
          </a:p>
        </p:txBody>
      </p:sp>
      <p:sp>
        <p:nvSpPr>
          <p:cNvPr id="16" name="Text 14"/>
          <p:cNvSpPr/>
          <p:nvPr/>
        </p:nvSpPr>
        <p:spPr>
          <a:xfrm>
            <a:off x="3063240" y="3310128"/>
            <a:ext cx="182880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Architecture Mapper</a:t>
            </a:r>
            <a:endParaRPr lang="en-US" sz="1200" dirty="0"/>
          </a:p>
        </p:txBody>
      </p:sp>
      <p:sp>
        <p:nvSpPr>
          <p:cNvPr id="17" name="Text 15"/>
          <p:cNvSpPr/>
          <p:nvPr/>
        </p:nvSpPr>
        <p:spPr>
          <a:xfrm>
            <a:off x="5212080" y="3310128"/>
            <a:ext cx="182880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Implementation Builder</a:t>
            </a:r>
            <a:endParaRPr lang="en-US" sz="1200" dirty="0"/>
          </a:p>
        </p:txBody>
      </p:sp>
      <p:sp>
        <p:nvSpPr>
          <p:cNvPr id="18" name="Text 16"/>
          <p:cNvSpPr/>
          <p:nvPr/>
        </p:nvSpPr>
        <p:spPr>
          <a:xfrm>
            <a:off x="7360920" y="3310128"/>
            <a:ext cx="182880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Evaluation Generator</a:t>
            </a:r>
            <a:endParaRPr lang="en-US" sz="1200" dirty="0"/>
          </a:p>
        </p:txBody>
      </p:sp>
      <p:sp>
        <p:nvSpPr>
          <p:cNvPr id="19" name="Text 17"/>
          <p:cNvSpPr/>
          <p:nvPr/>
        </p:nvSpPr>
        <p:spPr>
          <a:xfrm>
            <a:off x="9509760" y="3310128"/>
            <a:ext cx="182880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200" b="1" dirty="0">
                <a:solidFill>
                  <a:srgbClr val="17365D"/>
                </a:solidFill>
              </a:rPr>
              <a:t>Spec Validator</a:t>
            </a:r>
            <a:endParaRPr lang="en-US" sz="1200" dirty="0"/>
          </a:p>
        </p:txBody>
      </p:sp>
      <p:sp>
        <p:nvSpPr>
          <p:cNvPr id="20" name="Text 18"/>
          <p:cNvSpPr/>
          <p:nvPr/>
        </p:nvSpPr>
        <p:spPr>
          <a:xfrm>
            <a:off x="914400" y="4937760"/>
            <a:ext cx="10241280" cy="411480"/>
          </a:xfrm>
          <a:prstGeom prst="rect">
            <a:avLst/>
          </a:prstGeom>
          <a:noFill/>
          <a:ln/>
        </p:spPr>
        <p:txBody>
          <a:bodyPr wrap="square" lIns="0" tIns="0" rIns="0" bIns="0" rtlCol="0" anchor="ctr"/>
          <a:lstStyle/>
          <a:p>
            <a:pPr algn="ctr" indent="0" marL="0">
              <a:buNone/>
            </a:pPr>
            <a:r>
              <a:rPr lang="en-US" sz="1600" b="1" dirty="0">
                <a:solidFill>
                  <a:srgbClr val="0F172A"/>
                </a:solidFill>
              </a:rPr>
              <a:t>AI accelerates the delivery workflow; acceptance criteria and release decisions remain governed by the team.</a:t>
            </a:r>
            <a:endParaRPr lang="en-US" sz="1600" dirty="0"/>
          </a:p>
        </p:txBody>
      </p:sp>
      <p:sp>
        <p:nvSpPr>
          <p:cNvPr id="21" name="Text 19"/>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2" name="Text 20"/>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QUALITY MODEL</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AI Quality &amp; Evaluation Engineering</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822960" y="1417320"/>
            <a:ext cx="2926080" cy="502920"/>
          </a:xfrm>
          <a:prstGeom prst="roundRect">
            <a:avLst>
              <a:gd name="adj" fmla="val 14545"/>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600" b="1" dirty="0">
                <a:solidFill>
                  <a:srgbClr val="0F172A"/>
                </a:solidFill>
              </a:rPr>
              <a:t>Traditional QA</a:t>
            </a:r>
            <a:endParaRPr lang="en-US" sz="1600" dirty="0"/>
          </a:p>
        </p:txBody>
      </p:sp>
      <p:sp>
        <p:nvSpPr>
          <p:cNvPr id="6" name="Text 4"/>
          <p:cNvSpPr/>
          <p:nvPr/>
        </p:nvSpPr>
        <p:spPr>
          <a:xfrm>
            <a:off x="1005840" y="2057400"/>
            <a:ext cx="2560320" cy="1097280"/>
          </a:xfrm>
          <a:prstGeom prst="rect">
            <a:avLst/>
          </a:prstGeom>
          <a:noFill/>
          <a:ln/>
        </p:spPr>
        <p:txBody>
          <a:bodyPr wrap="square" lIns="508" tIns="508" rIns="508" bIns="508" rtlCol="0" anchor="ctr">
            <a:normAutofit/>
          </a:bodyPr>
          <a:lstStyle/>
          <a:p>
            <a:r>
              <a:rPr lang="en-US" sz="1280" dirty="0">
                <a:solidFill>
                  <a:srgbClr val="0F172A"/>
                </a:solidFill>
              </a:rPr>
              <a:t>Manual scripted flows</a:t>
            </a:r>
            <a:endParaRPr lang="en-US" sz="1280" dirty="0"/>
          </a:p>
          <a:p>
            <a:r>
              <a:rPr lang="en-US" sz="1280" dirty="0">
                <a:solidFill>
                  <a:srgbClr val="0F172A"/>
                </a:solidFill>
              </a:rPr>
              <a:t>Late validation after implementation</a:t>
            </a:r>
            <a:endParaRPr lang="en-US" sz="1280" dirty="0"/>
          </a:p>
          <a:p>
            <a:r>
              <a:rPr lang="en-US" sz="1280" dirty="0">
                <a:solidFill>
                  <a:srgbClr val="0F172A"/>
                </a:solidFill>
              </a:rPr>
              <a:t>Pass/fail UI test mindset</a:t>
            </a:r>
            <a:endParaRPr lang="en-US" sz="1280" dirty="0"/>
          </a:p>
        </p:txBody>
      </p:sp>
      <p:sp>
        <p:nvSpPr>
          <p:cNvPr id="7" name="Text 5"/>
          <p:cNvSpPr/>
          <p:nvPr/>
        </p:nvSpPr>
        <p:spPr>
          <a:xfrm>
            <a:off x="4617720" y="1417320"/>
            <a:ext cx="3200400" cy="502920"/>
          </a:xfrm>
          <a:prstGeom prst="roundRect">
            <a:avLst>
              <a:gd name="adj" fmla="val 14545"/>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600" b="1" dirty="0">
                <a:solidFill>
                  <a:srgbClr val="0F766E"/>
                </a:solidFill>
              </a:rPr>
              <a:t>AI Quality Engineering</a:t>
            </a:r>
            <a:endParaRPr lang="en-US" sz="1600" dirty="0"/>
          </a:p>
        </p:txBody>
      </p:sp>
      <p:sp>
        <p:nvSpPr>
          <p:cNvPr id="8" name="Text 6"/>
          <p:cNvSpPr/>
          <p:nvPr/>
        </p:nvSpPr>
        <p:spPr>
          <a:xfrm>
            <a:off x="4800600" y="2057400"/>
            <a:ext cx="2834640" cy="1097280"/>
          </a:xfrm>
          <a:prstGeom prst="rect">
            <a:avLst/>
          </a:prstGeom>
          <a:noFill/>
          <a:ln/>
        </p:spPr>
        <p:txBody>
          <a:bodyPr wrap="square" lIns="508" tIns="508" rIns="508" bIns="508" rtlCol="0" anchor="ctr">
            <a:normAutofit/>
          </a:bodyPr>
          <a:lstStyle/>
          <a:p>
            <a:r>
              <a:rPr lang="en-US" sz="1280" dirty="0">
                <a:solidFill>
                  <a:srgbClr val="0F172A"/>
                </a:solidFill>
              </a:rPr>
              <a:t>Conversation scenario regression</a:t>
            </a:r>
            <a:endParaRPr lang="en-US" sz="1280" dirty="0"/>
          </a:p>
          <a:p>
            <a:r>
              <a:rPr lang="en-US" sz="1280" dirty="0">
                <a:solidFill>
                  <a:srgbClr val="0F172A"/>
                </a:solidFill>
              </a:rPr>
              <a:t>Objective/capability selection accuracy</a:t>
            </a:r>
            <a:endParaRPr lang="en-US" sz="1280" dirty="0"/>
          </a:p>
          <a:p>
            <a:r>
              <a:rPr lang="en-US" sz="1280" dirty="0">
                <a:solidFill>
                  <a:srgbClr val="0F172A"/>
                </a:solidFill>
              </a:rPr>
              <a:t>Response contract and guardrail compliance</a:t>
            </a:r>
            <a:endParaRPr lang="en-US" sz="1280" dirty="0"/>
          </a:p>
        </p:txBody>
      </p:sp>
      <p:sp>
        <p:nvSpPr>
          <p:cNvPr id="9" name="Text 7"/>
          <p:cNvSpPr/>
          <p:nvPr/>
        </p:nvSpPr>
        <p:spPr>
          <a:xfrm>
            <a:off x="8732520" y="1417320"/>
            <a:ext cx="2606040" cy="502920"/>
          </a:xfrm>
          <a:prstGeom prst="roundRect">
            <a:avLst>
              <a:gd name="adj" fmla="val 14545"/>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600" b="1" dirty="0">
                <a:solidFill>
                  <a:srgbClr val="7C3AED"/>
                </a:solidFill>
              </a:rPr>
              <a:t>Evaluation Platform</a:t>
            </a:r>
            <a:endParaRPr lang="en-US" sz="1600" dirty="0"/>
          </a:p>
        </p:txBody>
      </p:sp>
      <p:sp>
        <p:nvSpPr>
          <p:cNvPr id="10" name="Text 8"/>
          <p:cNvSpPr/>
          <p:nvPr/>
        </p:nvSpPr>
        <p:spPr>
          <a:xfrm>
            <a:off x="8915400" y="2057400"/>
            <a:ext cx="2240280" cy="1280160"/>
          </a:xfrm>
          <a:prstGeom prst="rect">
            <a:avLst/>
          </a:prstGeom>
          <a:noFill/>
          <a:ln/>
        </p:spPr>
        <p:txBody>
          <a:bodyPr wrap="square" lIns="508" tIns="508" rIns="508" bIns="508" rtlCol="0" anchor="ctr">
            <a:normAutofit/>
          </a:bodyPr>
          <a:lstStyle/>
          <a:p>
            <a:r>
              <a:rPr lang="en-US" sz="1280" dirty="0">
                <a:solidFill>
                  <a:srgbClr val="0F172A"/>
                </a:solidFill>
              </a:rPr>
              <a:t>Golden conversations</a:t>
            </a:r>
            <a:endParaRPr lang="en-US" sz="1280" dirty="0"/>
          </a:p>
          <a:p>
            <a:r>
              <a:rPr lang="en-US" sz="1280" dirty="0">
                <a:solidFill>
                  <a:srgbClr val="0F172A"/>
                </a:solidFill>
              </a:rPr>
              <a:t>Synthetic test generation</a:t>
            </a:r>
            <a:endParaRPr lang="en-US" sz="1280" dirty="0"/>
          </a:p>
          <a:p>
            <a:r>
              <a:rPr lang="en-US" sz="1280" dirty="0">
                <a:solidFill>
                  <a:srgbClr val="0F172A"/>
                </a:solidFill>
              </a:rPr>
              <a:t>CI/CD eval gates</a:t>
            </a:r>
            <a:endParaRPr lang="en-US" sz="1280" dirty="0"/>
          </a:p>
          <a:p>
            <a:r>
              <a:rPr lang="en-US" sz="1280" dirty="0">
                <a:solidFill>
                  <a:srgbClr val="0F172A"/>
                </a:solidFill>
              </a:rPr>
              <a:t>Production quality dashboards</a:t>
            </a:r>
            <a:endParaRPr lang="en-US" sz="1280" dirty="0"/>
          </a:p>
        </p:txBody>
      </p:sp>
      <p:sp>
        <p:nvSpPr>
          <p:cNvPr id="11" name="Text 9"/>
          <p:cNvSpPr/>
          <p:nvPr/>
        </p:nvSpPr>
        <p:spPr>
          <a:xfrm>
            <a:off x="822960" y="3977640"/>
            <a:ext cx="2743200" cy="237744"/>
          </a:xfrm>
          <a:prstGeom prst="rect">
            <a:avLst/>
          </a:prstGeom>
          <a:noFill/>
          <a:ln/>
        </p:spPr>
        <p:txBody>
          <a:bodyPr wrap="square" lIns="0" tIns="0" rIns="0" bIns="0" rtlCol="0" anchor="ctr"/>
          <a:lstStyle/>
          <a:p>
            <a:pPr indent="0" marL="0">
              <a:buNone/>
            </a:pPr>
            <a:r>
              <a:rPr lang="en-US" sz="1500" b="1" dirty="0">
                <a:solidFill>
                  <a:srgbClr val="0F172A"/>
                </a:solidFill>
              </a:rPr>
              <a:t>Evaluation dimensions</a:t>
            </a:r>
            <a:endParaRPr lang="en-US" sz="1500" dirty="0"/>
          </a:p>
        </p:txBody>
      </p:sp>
      <p:sp>
        <p:nvSpPr>
          <p:cNvPr id="12" name="Text 10"/>
          <p:cNvSpPr/>
          <p:nvPr/>
        </p:nvSpPr>
        <p:spPr>
          <a:xfrm>
            <a:off x="822960" y="4480560"/>
            <a:ext cx="1645920" cy="475488"/>
          </a:xfrm>
          <a:prstGeom prst="roundRect">
            <a:avLst>
              <a:gd name="adj" fmla="val 15385"/>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070" b="1" dirty="0">
                <a:solidFill>
                  <a:srgbClr val="EA580C"/>
                </a:solidFill>
              </a:rPr>
              <a:t>Goal understanding</a:t>
            </a:r>
            <a:endParaRPr lang="en-US" sz="1070" dirty="0"/>
          </a:p>
        </p:txBody>
      </p:sp>
      <p:sp>
        <p:nvSpPr>
          <p:cNvPr id="13" name="Text 11"/>
          <p:cNvSpPr/>
          <p:nvPr/>
        </p:nvSpPr>
        <p:spPr>
          <a:xfrm>
            <a:off x="2651760" y="4480560"/>
            <a:ext cx="1645920" cy="475488"/>
          </a:xfrm>
          <a:prstGeom prst="roundRect">
            <a:avLst>
              <a:gd name="adj" fmla="val 1538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070" b="1" dirty="0">
                <a:solidFill>
                  <a:srgbClr val="17365D"/>
                </a:solidFill>
              </a:rPr>
              <a:t>Interruption handling</a:t>
            </a:r>
            <a:endParaRPr lang="en-US" sz="1070" dirty="0"/>
          </a:p>
        </p:txBody>
      </p:sp>
      <p:sp>
        <p:nvSpPr>
          <p:cNvPr id="14" name="Text 12"/>
          <p:cNvSpPr/>
          <p:nvPr/>
        </p:nvSpPr>
        <p:spPr>
          <a:xfrm>
            <a:off x="4480560" y="4480560"/>
            <a:ext cx="1645920" cy="475488"/>
          </a:xfrm>
          <a:prstGeom prst="roundRect">
            <a:avLst>
              <a:gd name="adj" fmla="val 15385"/>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070" b="1" dirty="0">
                <a:solidFill>
                  <a:srgbClr val="EA580C"/>
                </a:solidFill>
              </a:rPr>
              <a:t>Tool safety</a:t>
            </a:r>
            <a:endParaRPr lang="en-US" sz="1070" dirty="0"/>
          </a:p>
        </p:txBody>
      </p:sp>
      <p:sp>
        <p:nvSpPr>
          <p:cNvPr id="15" name="Text 13"/>
          <p:cNvSpPr/>
          <p:nvPr/>
        </p:nvSpPr>
        <p:spPr>
          <a:xfrm>
            <a:off x="6309360" y="4480560"/>
            <a:ext cx="1645920" cy="475488"/>
          </a:xfrm>
          <a:prstGeom prst="roundRect">
            <a:avLst>
              <a:gd name="adj" fmla="val 1538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070" b="1" dirty="0">
                <a:solidFill>
                  <a:srgbClr val="17365D"/>
                </a:solidFill>
              </a:rPr>
              <a:t>Response quality</a:t>
            </a:r>
            <a:endParaRPr lang="en-US" sz="1070" dirty="0"/>
          </a:p>
        </p:txBody>
      </p:sp>
      <p:sp>
        <p:nvSpPr>
          <p:cNvPr id="16" name="Text 14"/>
          <p:cNvSpPr/>
          <p:nvPr/>
        </p:nvSpPr>
        <p:spPr>
          <a:xfrm>
            <a:off x="8138160" y="4480560"/>
            <a:ext cx="1645920" cy="475488"/>
          </a:xfrm>
          <a:prstGeom prst="roundRect">
            <a:avLst>
              <a:gd name="adj" fmla="val 15385"/>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070" b="1" dirty="0">
                <a:solidFill>
                  <a:srgbClr val="EA580C"/>
                </a:solidFill>
              </a:rPr>
              <a:t>Cost / latency</a:t>
            </a:r>
            <a:endParaRPr lang="en-US" sz="1070" dirty="0"/>
          </a:p>
        </p:txBody>
      </p:sp>
      <p:sp>
        <p:nvSpPr>
          <p:cNvPr id="17" name="Text 15"/>
          <p:cNvSpPr/>
          <p:nvPr/>
        </p:nvSpPr>
        <p:spPr>
          <a:xfrm>
            <a:off x="9966960" y="4480560"/>
            <a:ext cx="1645920" cy="475488"/>
          </a:xfrm>
          <a:prstGeom prst="roundRect">
            <a:avLst>
              <a:gd name="adj" fmla="val 1538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070" b="1" dirty="0">
                <a:solidFill>
                  <a:srgbClr val="17365D"/>
                </a:solidFill>
              </a:rPr>
              <a:t>Fallback behavior</a:t>
            </a:r>
            <a:endParaRPr lang="en-US" sz="1070" dirty="0"/>
          </a:p>
        </p:txBody>
      </p:sp>
      <p:sp>
        <p:nvSpPr>
          <p:cNvPr id="18" name="Text 16"/>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9" name="Text 17"/>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RUNNING THE PLATFORM</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Observability, analytics, and FinOps are product capabilities</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731520" y="1417320"/>
            <a:ext cx="2377440" cy="685800"/>
          </a:xfrm>
          <a:prstGeom prst="roundRect">
            <a:avLst>
              <a:gd name="adj" fmla="val 10667"/>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300" b="1" dirty="0">
                <a:solidFill>
                  <a:srgbClr val="17365D"/>
                </a:solidFill>
              </a:rPr>
              <a:t>Trace every turn</a:t>
            </a:r>
            <a:endParaRPr lang="en-US" sz="1300" dirty="0"/>
          </a:p>
        </p:txBody>
      </p:sp>
      <p:sp>
        <p:nvSpPr>
          <p:cNvPr id="6" name="Text 4"/>
          <p:cNvSpPr/>
          <p:nvPr/>
        </p:nvSpPr>
        <p:spPr>
          <a:xfrm>
            <a:off x="3520440" y="1417320"/>
            <a:ext cx="2377440" cy="685800"/>
          </a:xfrm>
          <a:prstGeom prst="roundRect">
            <a:avLst>
              <a:gd name="adj" fmla="val 10667"/>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300" b="1" dirty="0">
                <a:solidFill>
                  <a:srgbClr val="0F766E"/>
                </a:solidFill>
              </a:rPr>
              <a:t>Measure outcomes</a:t>
            </a:r>
            <a:endParaRPr lang="en-US" sz="1300" dirty="0"/>
          </a:p>
        </p:txBody>
      </p:sp>
      <p:sp>
        <p:nvSpPr>
          <p:cNvPr id="7" name="Text 5"/>
          <p:cNvSpPr/>
          <p:nvPr/>
        </p:nvSpPr>
        <p:spPr>
          <a:xfrm>
            <a:off x="6309360" y="1417320"/>
            <a:ext cx="2377440" cy="685800"/>
          </a:xfrm>
          <a:prstGeom prst="roundRect">
            <a:avLst>
              <a:gd name="adj" fmla="val 10667"/>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300" b="1" dirty="0">
                <a:solidFill>
                  <a:srgbClr val="EA580C"/>
                </a:solidFill>
              </a:rPr>
              <a:t>Control cost</a:t>
            </a:r>
            <a:endParaRPr lang="en-US" sz="1300" dirty="0"/>
          </a:p>
        </p:txBody>
      </p:sp>
      <p:sp>
        <p:nvSpPr>
          <p:cNvPr id="8" name="Text 6"/>
          <p:cNvSpPr/>
          <p:nvPr/>
        </p:nvSpPr>
        <p:spPr>
          <a:xfrm>
            <a:off x="9098280" y="1417320"/>
            <a:ext cx="2377440" cy="685800"/>
          </a:xfrm>
          <a:prstGeom prst="roundRect">
            <a:avLst>
              <a:gd name="adj" fmla="val 10667"/>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300" b="1" dirty="0">
                <a:solidFill>
                  <a:srgbClr val="7C3AED"/>
                </a:solidFill>
              </a:rPr>
              <a:t>Manage releases</a:t>
            </a:r>
            <a:endParaRPr lang="en-US" sz="1300" dirty="0"/>
          </a:p>
        </p:txBody>
      </p:sp>
      <p:sp>
        <p:nvSpPr>
          <p:cNvPr id="9" name="Text 7"/>
          <p:cNvSpPr/>
          <p:nvPr/>
        </p:nvSpPr>
        <p:spPr>
          <a:xfrm>
            <a:off x="731520" y="2743200"/>
            <a:ext cx="3840480" cy="256032"/>
          </a:xfrm>
          <a:prstGeom prst="rect">
            <a:avLst/>
          </a:prstGeom>
          <a:noFill/>
          <a:ln/>
        </p:spPr>
        <p:txBody>
          <a:bodyPr wrap="square" lIns="0" tIns="0" rIns="0" bIns="0" rtlCol="0" anchor="ctr"/>
          <a:lstStyle/>
          <a:p>
            <a:pPr indent="0" marL="0">
              <a:buNone/>
            </a:pPr>
            <a:r>
              <a:rPr lang="en-US" sz="1600" b="1" dirty="0">
                <a:solidFill>
                  <a:srgbClr val="0F172A"/>
                </a:solidFill>
              </a:rPr>
              <a:t>Core metrics to operationalize</a:t>
            </a:r>
            <a:endParaRPr lang="en-US" sz="1600" dirty="0"/>
          </a:p>
        </p:txBody>
      </p:sp>
      <p:sp>
        <p:nvSpPr>
          <p:cNvPr id="10" name="Text 8"/>
          <p:cNvSpPr/>
          <p:nvPr/>
        </p:nvSpPr>
        <p:spPr>
          <a:xfrm>
            <a:off x="868680" y="3246120"/>
            <a:ext cx="246888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F172A"/>
                </a:solidFill>
              </a:rPr>
              <a:t>Member success</a:t>
            </a:r>
            <a:endParaRPr lang="en-US" sz="1100" dirty="0"/>
          </a:p>
        </p:txBody>
      </p:sp>
      <p:sp>
        <p:nvSpPr>
          <p:cNvPr id="11" name="Text 9"/>
          <p:cNvSpPr/>
          <p:nvPr/>
        </p:nvSpPr>
        <p:spPr>
          <a:xfrm>
            <a:off x="3429000" y="3246120"/>
            <a:ext cx="493776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050" dirty="0">
                <a:solidFill>
                  <a:srgbClr val="475569"/>
                </a:solidFill>
              </a:rPr>
              <a:t>completed objective rate</a:t>
            </a:r>
            <a:endParaRPr lang="en-US" sz="1050" dirty="0"/>
          </a:p>
        </p:txBody>
      </p:sp>
      <p:sp>
        <p:nvSpPr>
          <p:cNvPr id="12" name="Text 10"/>
          <p:cNvSpPr/>
          <p:nvPr/>
        </p:nvSpPr>
        <p:spPr>
          <a:xfrm>
            <a:off x="868680" y="3685032"/>
            <a:ext cx="2468880" cy="347472"/>
          </a:xfrm>
          <a:prstGeom prst="roundRect">
            <a:avLst>
              <a:gd name="adj" fmla="val 21053"/>
            </a:avLst>
          </a:prstGeom>
          <a:solidFill>
            <a:srgbClr val="F1F5F9"/>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F172A"/>
                </a:solidFill>
              </a:rPr>
              <a:t>Conversation health</a:t>
            </a:r>
            <a:endParaRPr lang="en-US" sz="1100" dirty="0"/>
          </a:p>
        </p:txBody>
      </p:sp>
      <p:sp>
        <p:nvSpPr>
          <p:cNvPr id="13" name="Text 11"/>
          <p:cNvSpPr/>
          <p:nvPr/>
        </p:nvSpPr>
        <p:spPr>
          <a:xfrm>
            <a:off x="3429000" y="3685032"/>
            <a:ext cx="4937760" cy="347472"/>
          </a:xfrm>
          <a:prstGeom prst="roundRect">
            <a:avLst>
              <a:gd name="adj" fmla="val 21053"/>
            </a:avLst>
          </a:prstGeom>
          <a:solidFill>
            <a:srgbClr val="F1F5F9"/>
          </a:solidFill>
          <a:ln w="12700">
            <a:solidFill>
              <a:srgbClr val="CBD5E1"/>
            </a:solidFill>
          </a:ln>
        </p:spPr>
        <p:txBody>
          <a:bodyPr wrap="square" lIns="1016" tIns="1016" rIns="1016" bIns="1016" rtlCol="0" anchor="ctr">
            <a:normAutofit/>
          </a:bodyPr>
          <a:lstStyle/>
          <a:p>
            <a:pPr algn="ctr" indent="0" marL="0">
              <a:buNone/>
            </a:pPr>
            <a:r>
              <a:rPr lang="en-US" sz="1050" dirty="0">
                <a:solidFill>
                  <a:srgbClr val="475569"/>
                </a:solidFill>
              </a:rPr>
              <a:t>fallbacks, repeats, escalations</a:t>
            </a:r>
            <a:endParaRPr lang="en-US" sz="1050" dirty="0"/>
          </a:p>
        </p:txBody>
      </p:sp>
      <p:sp>
        <p:nvSpPr>
          <p:cNvPr id="14" name="Text 12"/>
          <p:cNvSpPr/>
          <p:nvPr/>
        </p:nvSpPr>
        <p:spPr>
          <a:xfrm>
            <a:off x="868680" y="4123944"/>
            <a:ext cx="246888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F172A"/>
                </a:solidFill>
              </a:rPr>
              <a:t>Model quality</a:t>
            </a:r>
            <a:endParaRPr lang="en-US" sz="1100" dirty="0"/>
          </a:p>
        </p:txBody>
      </p:sp>
      <p:sp>
        <p:nvSpPr>
          <p:cNvPr id="15" name="Text 13"/>
          <p:cNvSpPr/>
          <p:nvPr/>
        </p:nvSpPr>
        <p:spPr>
          <a:xfrm>
            <a:off x="3429000" y="4123944"/>
            <a:ext cx="493776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050" dirty="0">
                <a:solidFill>
                  <a:srgbClr val="475569"/>
                </a:solidFill>
              </a:rPr>
              <a:t>understanding, selection, response compliance</a:t>
            </a:r>
            <a:endParaRPr lang="en-US" sz="1050" dirty="0"/>
          </a:p>
        </p:txBody>
      </p:sp>
      <p:sp>
        <p:nvSpPr>
          <p:cNvPr id="16" name="Text 14"/>
          <p:cNvSpPr/>
          <p:nvPr/>
        </p:nvSpPr>
        <p:spPr>
          <a:xfrm>
            <a:off x="868680" y="4562856"/>
            <a:ext cx="2468880" cy="347472"/>
          </a:xfrm>
          <a:prstGeom prst="roundRect">
            <a:avLst>
              <a:gd name="adj" fmla="val 21053"/>
            </a:avLst>
          </a:prstGeom>
          <a:solidFill>
            <a:srgbClr val="F1F5F9"/>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F172A"/>
                </a:solidFill>
              </a:rPr>
              <a:t>Runtime health</a:t>
            </a:r>
            <a:endParaRPr lang="en-US" sz="1100" dirty="0"/>
          </a:p>
        </p:txBody>
      </p:sp>
      <p:sp>
        <p:nvSpPr>
          <p:cNvPr id="17" name="Text 15"/>
          <p:cNvSpPr/>
          <p:nvPr/>
        </p:nvSpPr>
        <p:spPr>
          <a:xfrm>
            <a:off x="3429000" y="4562856"/>
            <a:ext cx="4937760" cy="347472"/>
          </a:xfrm>
          <a:prstGeom prst="roundRect">
            <a:avLst>
              <a:gd name="adj" fmla="val 21053"/>
            </a:avLst>
          </a:prstGeom>
          <a:solidFill>
            <a:srgbClr val="F1F5F9"/>
          </a:solidFill>
          <a:ln w="12700">
            <a:solidFill>
              <a:srgbClr val="CBD5E1"/>
            </a:solidFill>
          </a:ln>
        </p:spPr>
        <p:txBody>
          <a:bodyPr wrap="square" lIns="1016" tIns="1016" rIns="1016" bIns="1016" rtlCol="0" anchor="ctr">
            <a:normAutofit/>
          </a:bodyPr>
          <a:lstStyle/>
          <a:p>
            <a:pPr algn="ctr" indent="0" marL="0">
              <a:buNone/>
            </a:pPr>
            <a:r>
              <a:rPr lang="en-US" sz="1050" dirty="0">
                <a:solidFill>
                  <a:srgbClr val="475569"/>
                </a:solidFill>
              </a:rPr>
              <a:t>latency, error rate, tool failures</a:t>
            </a:r>
            <a:endParaRPr lang="en-US" sz="1050" dirty="0"/>
          </a:p>
        </p:txBody>
      </p:sp>
      <p:sp>
        <p:nvSpPr>
          <p:cNvPr id="18" name="Text 16"/>
          <p:cNvSpPr/>
          <p:nvPr/>
        </p:nvSpPr>
        <p:spPr>
          <a:xfrm>
            <a:off x="868680" y="5001768"/>
            <a:ext cx="246888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100" b="1" dirty="0">
                <a:solidFill>
                  <a:srgbClr val="0F172A"/>
                </a:solidFill>
              </a:rPr>
              <a:t>Cost health</a:t>
            </a:r>
            <a:endParaRPr lang="en-US" sz="1100" dirty="0"/>
          </a:p>
        </p:txBody>
      </p:sp>
      <p:sp>
        <p:nvSpPr>
          <p:cNvPr id="19" name="Text 17"/>
          <p:cNvSpPr/>
          <p:nvPr/>
        </p:nvSpPr>
        <p:spPr>
          <a:xfrm>
            <a:off x="3429000" y="5001768"/>
            <a:ext cx="4937760" cy="347472"/>
          </a:xfrm>
          <a:prstGeom prst="roundRect">
            <a:avLst>
              <a:gd name="adj" fmla="val 21053"/>
            </a:avLst>
          </a:prstGeom>
          <a:solidFill>
            <a:srgbClr val="FFFFFF"/>
          </a:solidFill>
          <a:ln w="12700">
            <a:solidFill>
              <a:srgbClr val="CBD5E1"/>
            </a:solidFill>
          </a:ln>
        </p:spPr>
        <p:txBody>
          <a:bodyPr wrap="square" lIns="1016" tIns="1016" rIns="1016" bIns="1016" rtlCol="0" anchor="ctr">
            <a:normAutofit/>
          </a:bodyPr>
          <a:lstStyle/>
          <a:p>
            <a:pPr algn="ctr" indent="0" marL="0">
              <a:buNone/>
            </a:pPr>
            <a:r>
              <a:rPr lang="en-US" sz="1050" dirty="0">
                <a:solidFill>
                  <a:srgbClr val="475569"/>
                </a:solidFill>
              </a:rPr>
              <a:t>tokens, cost per completed objective</a:t>
            </a:r>
            <a:endParaRPr lang="en-US" sz="1050" dirty="0"/>
          </a:p>
        </p:txBody>
      </p:sp>
      <p:sp>
        <p:nvSpPr>
          <p:cNvPr id="20" name="Text 18"/>
          <p:cNvSpPr/>
          <p:nvPr/>
        </p:nvSpPr>
        <p:spPr>
          <a:xfrm>
            <a:off x="1097280" y="5532120"/>
            <a:ext cx="9966960" cy="475488"/>
          </a:xfrm>
          <a:prstGeom prst="roundRect">
            <a:avLst>
              <a:gd name="adj" fmla="val 15385"/>
            </a:avLst>
          </a:prstGeom>
          <a:solidFill>
            <a:srgbClr val="FFFFFF"/>
          </a:solidFill>
          <a:ln w="12700">
            <a:solidFill>
              <a:srgbClr val="2563EB"/>
            </a:solidFill>
          </a:ln>
        </p:spPr>
        <p:txBody>
          <a:bodyPr wrap="square" lIns="1016" tIns="1016" rIns="1016" bIns="1016" rtlCol="0" anchor="ctr">
            <a:normAutofit/>
          </a:bodyPr>
          <a:lstStyle/>
          <a:p>
            <a:pPr algn="ctr" indent="0" marL="0">
              <a:buNone/>
            </a:pPr>
            <a:r>
              <a:rPr lang="en-US" sz="1350" b="1" dirty="0">
                <a:solidFill>
                  <a:srgbClr val="2563EB"/>
                </a:solidFill>
              </a:rPr>
              <a:t>Recommended pattern: OpenTelemetry-first instrumentation, with Langfuse or LangSmith as visualization backends.</a:t>
            </a:r>
            <a:endParaRPr lang="en-US" sz="1350" dirty="0"/>
          </a:p>
        </p:txBody>
      </p:sp>
      <p:sp>
        <p:nvSpPr>
          <p:cNvPr id="21" name="Text 19"/>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2" name="Text 20"/>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CENTER OF EXCELLENCE</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AI COE role: enable every team, do not become the bottleneck</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731520" y="1417320"/>
            <a:ext cx="4937760" cy="457200"/>
          </a:xfrm>
          <a:prstGeom prst="roundRect">
            <a:avLst>
              <a:gd name="adj" fmla="val 16000"/>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600" b="1" dirty="0">
                <a:solidFill>
                  <a:srgbClr val="7C3AED"/>
                </a:solidFill>
              </a:rPr>
              <a:t>What AI COE should own</a:t>
            </a:r>
            <a:endParaRPr lang="en-US" sz="1600" dirty="0"/>
          </a:p>
        </p:txBody>
      </p:sp>
      <p:sp>
        <p:nvSpPr>
          <p:cNvPr id="6" name="Text 4"/>
          <p:cNvSpPr/>
          <p:nvPr/>
        </p:nvSpPr>
        <p:spPr>
          <a:xfrm>
            <a:off x="960120" y="2029968"/>
            <a:ext cx="4572000" cy="1920240"/>
          </a:xfrm>
          <a:prstGeom prst="rect">
            <a:avLst/>
          </a:prstGeom>
          <a:noFill/>
          <a:ln/>
        </p:spPr>
        <p:txBody>
          <a:bodyPr wrap="square" lIns="508" tIns="508" rIns="508" bIns="508" rtlCol="0" anchor="ctr">
            <a:normAutofit/>
          </a:bodyPr>
          <a:lstStyle/>
          <a:p>
            <a:r>
              <a:rPr lang="en-US" sz="1300" dirty="0">
                <a:solidFill>
                  <a:srgbClr val="0F172A"/>
                </a:solidFill>
              </a:rPr>
              <a:t>Reference architecture and reusable patterns</a:t>
            </a:r>
            <a:endParaRPr lang="en-US" sz="1300" dirty="0"/>
          </a:p>
          <a:p>
            <a:r>
              <a:rPr lang="en-US" sz="1300" dirty="0">
                <a:solidFill>
                  <a:srgbClr val="0F172A"/>
                </a:solidFill>
              </a:rPr>
              <a:t>Prompt, evaluation, guardrail, and model selection standards</a:t>
            </a:r>
            <a:endParaRPr lang="en-US" sz="1300" dirty="0"/>
          </a:p>
          <a:p>
            <a:r>
              <a:rPr lang="en-US" sz="1300" dirty="0">
                <a:solidFill>
                  <a:srgbClr val="0F172A"/>
                </a:solidFill>
              </a:rPr>
              <a:t>Architecture reviews for high-risk capabilities</a:t>
            </a:r>
            <a:endParaRPr lang="en-US" sz="1300" dirty="0"/>
          </a:p>
          <a:p>
            <a:r>
              <a:rPr lang="en-US" sz="1300" dirty="0">
                <a:solidFill>
                  <a:srgbClr val="0F172A"/>
                </a:solidFill>
              </a:rPr>
              <a:t>Reusable datasets, evaluation templates, and coaching</a:t>
            </a:r>
            <a:endParaRPr lang="en-US" sz="1300" dirty="0"/>
          </a:p>
          <a:p>
            <a:r>
              <a:rPr lang="en-US" sz="1300" dirty="0">
                <a:solidFill>
                  <a:srgbClr val="0F172A"/>
                </a:solidFill>
              </a:rPr>
              <a:t>Vendor/model research and enterprise guidance</a:t>
            </a:r>
            <a:endParaRPr lang="en-US" sz="1300" dirty="0"/>
          </a:p>
        </p:txBody>
      </p:sp>
      <p:sp>
        <p:nvSpPr>
          <p:cNvPr id="7" name="Text 5"/>
          <p:cNvSpPr/>
          <p:nvPr/>
        </p:nvSpPr>
        <p:spPr>
          <a:xfrm>
            <a:off x="6492240" y="1417320"/>
            <a:ext cx="4937760" cy="457200"/>
          </a:xfrm>
          <a:prstGeom prst="roundRect">
            <a:avLst>
              <a:gd name="adj" fmla="val 16000"/>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600" b="1" dirty="0">
                <a:solidFill>
                  <a:srgbClr val="0F766E"/>
                </a:solidFill>
              </a:rPr>
              <a:t>What product/platform teams should own</a:t>
            </a:r>
            <a:endParaRPr lang="en-US" sz="1600" dirty="0"/>
          </a:p>
        </p:txBody>
      </p:sp>
      <p:sp>
        <p:nvSpPr>
          <p:cNvPr id="8" name="Text 6"/>
          <p:cNvSpPr/>
          <p:nvPr/>
        </p:nvSpPr>
        <p:spPr>
          <a:xfrm>
            <a:off x="6720840" y="2029968"/>
            <a:ext cx="4572000" cy="1920240"/>
          </a:xfrm>
          <a:prstGeom prst="rect">
            <a:avLst/>
          </a:prstGeom>
          <a:noFill/>
          <a:ln/>
        </p:spPr>
        <p:txBody>
          <a:bodyPr wrap="square" lIns="508" tIns="508" rIns="508" bIns="508" rtlCol="0" anchor="ctr">
            <a:normAutofit/>
          </a:bodyPr>
          <a:lstStyle/>
          <a:p>
            <a:r>
              <a:rPr lang="en-US" sz="1300" dirty="0">
                <a:solidFill>
                  <a:srgbClr val="0F172A"/>
                </a:solidFill>
              </a:rPr>
              <a:t>Business outcomes and delivery commitments</a:t>
            </a:r>
            <a:endParaRPr lang="en-US" sz="1300" dirty="0"/>
          </a:p>
          <a:p>
            <a:r>
              <a:rPr lang="en-US" sz="1300" dirty="0">
                <a:solidFill>
                  <a:srgbClr val="0F172A"/>
                </a:solidFill>
              </a:rPr>
              <a:t>Runtime implementation and operational readiness</a:t>
            </a:r>
            <a:endParaRPr lang="en-US" sz="1300" dirty="0"/>
          </a:p>
          <a:p>
            <a:r>
              <a:rPr lang="en-US" sz="1300" dirty="0">
                <a:solidFill>
                  <a:srgbClr val="0F172A"/>
                </a:solidFill>
              </a:rPr>
              <a:t>Capability specs, tools, response contracts, and acceptance criteria</a:t>
            </a:r>
            <a:endParaRPr lang="en-US" sz="1300" dirty="0"/>
          </a:p>
          <a:p>
            <a:r>
              <a:rPr lang="en-US" sz="1300" dirty="0">
                <a:solidFill>
                  <a:srgbClr val="0F172A"/>
                </a:solidFill>
              </a:rPr>
              <a:t>Production dashboards, incidents, and continuous improvement</a:t>
            </a:r>
            <a:endParaRPr lang="en-US" sz="1300" dirty="0"/>
          </a:p>
          <a:p>
            <a:r>
              <a:rPr lang="en-US" sz="1300" dirty="0">
                <a:solidFill>
                  <a:srgbClr val="0F172A"/>
                </a:solidFill>
              </a:rPr>
              <a:t>Day-to-day backlog and release decisions</a:t>
            </a:r>
            <a:endParaRPr lang="en-US" sz="1300" dirty="0"/>
          </a:p>
        </p:txBody>
      </p:sp>
      <p:sp>
        <p:nvSpPr>
          <p:cNvPr id="9" name="Text 7"/>
          <p:cNvSpPr/>
          <p:nvPr/>
        </p:nvSpPr>
        <p:spPr>
          <a:xfrm>
            <a:off x="2057400" y="5166360"/>
            <a:ext cx="8092440" cy="530352"/>
          </a:xfrm>
          <a:prstGeom prst="roundRect">
            <a:avLst>
              <a:gd name="adj" fmla="val 13793"/>
            </a:avLst>
          </a:prstGeom>
          <a:solidFill>
            <a:srgbClr val="FFFFFF"/>
          </a:solidFill>
          <a:ln w="12700">
            <a:solidFill>
              <a:srgbClr val="7C3AED"/>
            </a:solidFill>
          </a:ln>
        </p:spPr>
        <p:txBody>
          <a:bodyPr wrap="square" lIns="1016" tIns="1016" rIns="1016" bIns="1016" rtlCol="0" anchor="ctr">
            <a:normAutofit/>
          </a:bodyPr>
          <a:lstStyle/>
          <a:p>
            <a:pPr algn="ctr" indent="0" marL="0">
              <a:buNone/>
            </a:pPr>
            <a:r>
              <a:rPr lang="en-US" sz="1600" b="1" dirty="0">
                <a:solidFill>
                  <a:srgbClr val="7C3AED"/>
                </a:solidFill>
              </a:rPr>
              <a:t>Operating principle: COE enables scale; it does not build every agent.</a:t>
            </a:r>
            <a:endParaRPr lang="en-US" sz="1600" dirty="0"/>
          </a:p>
        </p:txBody>
      </p:sp>
      <p:sp>
        <p:nvSpPr>
          <p:cNvPr id="10" name="Text 8"/>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1" name="Text 9"/>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TIMELINE MODEL</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Delivery roadmap: build platform once, scale capabilities in waves</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731520" y="1645920"/>
            <a:ext cx="2377440" cy="658368"/>
          </a:xfrm>
          <a:prstGeom prst="roundRect">
            <a:avLst>
              <a:gd name="adj" fmla="val 11111"/>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300" b="1" dirty="0">
                <a:solidFill>
                  <a:srgbClr val="0F172A"/>
                </a:solidFill>
              </a:rPr>
              <a:t>Wave 0</a:t>
            </a:r>
            <a:endParaRPr lang="en-US" sz="1300" dirty="0"/>
          </a:p>
          <a:p>
            <a:pPr algn="ctr" indent="0" marL="0">
              <a:buNone/>
            </a:pPr>
            <a:r>
              <a:rPr lang="en-US" sz="1300" b="1" dirty="0">
                <a:solidFill>
                  <a:srgbClr val="0F172A"/>
                </a:solidFill>
              </a:rPr>
              <a:t>2 weeks</a:t>
            </a:r>
            <a:endParaRPr lang="en-US" sz="1300" dirty="0"/>
          </a:p>
        </p:txBody>
      </p:sp>
      <p:sp>
        <p:nvSpPr>
          <p:cNvPr id="6" name="Text 4"/>
          <p:cNvSpPr/>
          <p:nvPr/>
        </p:nvSpPr>
        <p:spPr>
          <a:xfrm>
            <a:off x="731520" y="2487168"/>
            <a:ext cx="2377440" cy="1234440"/>
          </a:xfrm>
          <a:prstGeom prst="roundRect">
            <a:avLst>
              <a:gd name="adj" fmla="val 5926"/>
            </a:avLst>
          </a:prstGeom>
          <a:solidFill>
            <a:srgbClr val="FFFFFF"/>
          </a:solidFill>
          <a:ln w="12700">
            <a:solidFill>
              <a:srgbClr val="0F172A"/>
            </a:solidFill>
          </a:ln>
        </p:spPr>
        <p:txBody>
          <a:bodyPr wrap="square" lIns="1524" tIns="1524" rIns="1524" bIns="1524" rtlCol="0" anchor="ctr">
            <a:normAutofit/>
          </a:bodyPr>
          <a:lstStyle/>
          <a:p>
            <a:pPr algn="l" indent="0" marL="0">
              <a:buNone/>
            </a:pPr>
            <a:r>
              <a:rPr lang="en-US" sz="1150" dirty="0">
                <a:solidFill>
                  <a:srgbClr val="0F172A"/>
                </a:solidFill>
              </a:rPr>
              <a:t>Alignment, funding model, initial capability backlog, architecture principles</a:t>
            </a:r>
            <a:endParaRPr lang="en-US" sz="1150" dirty="0"/>
          </a:p>
        </p:txBody>
      </p:sp>
      <p:sp>
        <p:nvSpPr>
          <p:cNvPr id="7" name="Shape 5"/>
          <p:cNvSpPr/>
          <p:nvPr/>
        </p:nvSpPr>
        <p:spPr>
          <a:xfrm>
            <a:off x="3108960" y="1975104"/>
            <a:ext cx="292608" cy="0"/>
          </a:xfrm>
          <a:prstGeom prst="line">
            <a:avLst/>
          </a:prstGeom>
          <a:noFill/>
          <a:ln w="15240">
            <a:solidFill>
              <a:srgbClr val="475569"/>
            </a:solidFill>
            <a:prstDash val="solid"/>
            <a:headEnd type="none"/>
            <a:tailEnd type="triangle"/>
          </a:ln>
        </p:spPr>
      </p:sp>
      <p:sp>
        <p:nvSpPr>
          <p:cNvPr id="8" name="Text 6"/>
          <p:cNvSpPr/>
          <p:nvPr/>
        </p:nvSpPr>
        <p:spPr>
          <a:xfrm>
            <a:off x="3520440" y="1645920"/>
            <a:ext cx="2377440" cy="658368"/>
          </a:xfrm>
          <a:prstGeom prst="roundRect">
            <a:avLst>
              <a:gd name="adj" fmla="val 11111"/>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300" b="1" dirty="0">
                <a:solidFill>
                  <a:srgbClr val="17365D"/>
                </a:solidFill>
              </a:rPr>
              <a:t>Wave 1</a:t>
            </a:r>
            <a:endParaRPr lang="en-US" sz="1300" dirty="0"/>
          </a:p>
          <a:p>
            <a:pPr algn="ctr" indent="0" marL="0">
              <a:buNone/>
            </a:pPr>
            <a:r>
              <a:rPr lang="en-US" sz="1300" b="1" dirty="0">
                <a:solidFill>
                  <a:srgbClr val="17365D"/>
                </a:solidFill>
              </a:rPr>
              <a:t>6–8 weeks</a:t>
            </a:r>
            <a:endParaRPr lang="en-US" sz="1300" dirty="0"/>
          </a:p>
        </p:txBody>
      </p:sp>
      <p:sp>
        <p:nvSpPr>
          <p:cNvPr id="9" name="Text 7"/>
          <p:cNvSpPr/>
          <p:nvPr/>
        </p:nvSpPr>
        <p:spPr>
          <a:xfrm>
            <a:off x="3520440" y="2487168"/>
            <a:ext cx="2377440" cy="1234440"/>
          </a:xfrm>
          <a:prstGeom prst="roundRect">
            <a:avLst>
              <a:gd name="adj" fmla="val 5926"/>
            </a:avLst>
          </a:prstGeom>
          <a:solidFill>
            <a:srgbClr val="FFFFFF"/>
          </a:solidFill>
          <a:ln w="12700">
            <a:solidFill>
              <a:srgbClr val="17365D"/>
            </a:solidFill>
          </a:ln>
        </p:spPr>
        <p:txBody>
          <a:bodyPr wrap="square" lIns="1524" tIns="1524" rIns="1524" bIns="1524" rtlCol="0" anchor="ctr">
            <a:normAutofit/>
          </a:bodyPr>
          <a:lstStyle/>
          <a:p>
            <a:pPr algn="l" indent="0" marL="0">
              <a:buNone/>
            </a:pPr>
            <a:r>
              <a:rPr lang="en-US" sz="1150" dirty="0">
                <a:solidFill>
                  <a:srgbClr val="0F172A"/>
                </a:solidFill>
              </a:rPr>
              <a:t>Platform foundation, developer workflow, eval baseline, 1–2 pilot capabilities</a:t>
            </a:r>
            <a:endParaRPr lang="en-US" sz="1150" dirty="0"/>
          </a:p>
        </p:txBody>
      </p:sp>
      <p:sp>
        <p:nvSpPr>
          <p:cNvPr id="10" name="Shape 8"/>
          <p:cNvSpPr/>
          <p:nvPr/>
        </p:nvSpPr>
        <p:spPr>
          <a:xfrm>
            <a:off x="5897880" y="1975104"/>
            <a:ext cx="292608" cy="0"/>
          </a:xfrm>
          <a:prstGeom prst="line">
            <a:avLst/>
          </a:prstGeom>
          <a:noFill/>
          <a:ln w="15240">
            <a:solidFill>
              <a:srgbClr val="475569"/>
            </a:solidFill>
            <a:prstDash val="solid"/>
            <a:headEnd type="none"/>
            <a:tailEnd type="triangle"/>
          </a:ln>
        </p:spPr>
      </p:sp>
      <p:sp>
        <p:nvSpPr>
          <p:cNvPr id="11" name="Text 9"/>
          <p:cNvSpPr/>
          <p:nvPr/>
        </p:nvSpPr>
        <p:spPr>
          <a:xfrm>
            <a:off x="6309360" y="1645920"/>
            <a:ext cx="2377440" cy="658368"/>
          </a:xfrm>
          <a:prstGeom prst="roundRect">
            <a:avLst>
              <a:gd name="adj" fmla="val 11111"/>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300" b="1" dirty="0">
                <a:solidFill>
                  <a:srgbClr val="0F766E"/>
                </a:solidFill>
              </a:rPr>
              <a:t>Wave 2</a:t>
            </a:r>
            <a:endParaRPr lang="en-US" sz="1300" dirty="0"/>
          </a:p>
          <a:p>
            <a:pPr algn="ctr" indent="0" marL="0">
              <a:buNone/>
            </a:pPr>
            <a:r>
              <a:rPr lang="en-US" sz="1300" b="1" dirty="0">
                <a:solidFill>
                  <a:srgbClr val="0F766E"/>
                </a:solidFill>
              </a:rPr>
              <a:t>6–8 weeks</a:t>
            </a:r>
            <a:endParaRPr lang="en-US" sz="1300" dirty="0"/>
          </a:p>
        </p:txBody>
      </p:sp>
      <p:sp>
        <p:nvSpPr>
          <p:cNvPr id="12" name="Text 10"/>
          <p:cNvSpPr/>
          <p:nvPr/>
        </p:nvSpPr>
        <p:spPr>
          <a:xfrm>
            <a:off x="6309360" y="2487168"/>
            <a:ext cx="2377440" cy="1234440"/>
          </a:xfrm>
          <a:prstGeom prst="roundRect">
            <a:avLst>
              <a:gd name="adj" fmla="val 5926"/>
            </a:avLst>
          </a:prstGeom>
          <a:solidFill>
            <a:srgbClr val="FFFFFF"/>
          </a:solidFill>
          <a:ln w="12700">
            <a:solidFill>
              <a:srgbClr val="0F766E"/>
            </a:solidFill>
          </a:ln>
        </p:spPr>
        <p:txBody>
          <a:bodyPr wrap="square" lIns="1524" tIns="1524" rIns="1524" bIns="1524" rtlCol="0" anchor="ctr">
            <a:normAutofit/>
          </a:bodyPr>
          <a:lstStyle/>
          <a:p>
            <a:pPr algn="l" indent="0" marL="0">
              <a:buNone/>
            </a:pPr>
            <a:r>
              <a:rPr lang="en-US" sz="1150" dirty="0">
                <a:solidFill>
                  <a:srgbClr val="0F172A"/>
                </a:solidFill>
              </a:rPr>
              <a:t>First production release, 3–5 capabilities, dashboards, release gates</a:t>
            </a:r>
            <a:endParaRPr lang="en-US" sz="1150" dirty="0"/>
          </a:p>
        </p:txBody>
      </p:sp>
      <p:sp>
        <p:nvSpPr>
          <p:cNvPr id="13" name="Shape 11"/>
          <p:cNvSpPr/>
          <p:nvPr/>
        </p:nvSpPr>
        <p:spPr>
          <a:xfrm>
            <a:off x="8686800" y="1975104"/>
            <a:ext cx="292608" cy="0"/>
          </a:xfrm>
          <a:prstGeom prst="line">
            <a:avLst/>
          </a:prstGeom>
          <a:noFill/>
          <a:ln w="15240">
            <a:solidFill>
              <a:srgbClr val="475569"/>
            </a:solidFill>
            <a:prstDash val="solid"/>
            <a:headEnd type="none"/>
            <a:tailEnd type="triangle"/>
          </a:ln>
        </p:spPr>
      </p:sp>
      <p:sp>
        <p:nvSpPr>
          <p:cNvPr id="14" name="Text 12"/>
          <p:cNvSpPr/>
          <p:nvPr/>
        </p:nvSpPr>
        <p:spPr>
          <a:xfrm>
            <a:off x="9098280" y="1645920"/>
            <a:ext cx="2377440" cy="658368"/>
          </a:xfrm>
          <a:prstGeom prst="roundRect">
            <a:avLst>
              <a:gd name="adj" fmla="val 11111"/>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300" b="1" dirty="0">
                <a:solidFill>
                  <a:srgbClr val="EA580C"/>
                </a:solidFill>
              </a:rPr>
              <a:t>Wave 3</a:t>
            </a:r>
            <a:endParaRPr lang="en-US" sz="1300" dirty="0"/>
          </a:p>
          <a:p>
            <a:pPr algn="ctr" indent="0" marL="0">
              <a:buNone/>
            </a:pPr>
            <a:r>
              <a:rPr lang="en-US" sz="1300" b="1" dirty="0">
                <a:solidFill>
                  <a:srgbClr val="EA580C"/>
                </a:solidFill>
              </a:rPr>
              <a:t>8–12 weeks</a:t>
            </a:r>
            <a:endParaRPr lang="en-US" sz="1300" dirty="0"/>
          </a:p>
        </p:txBody>
      </p:sp>
      <p:sp>
        <p:nvSpPr>
          <p:cNvPr id="15" name="Text 13"/>
          <p:cNvSpPr/>
          <p:nvPr/>
        </p:nvSpPr>
        <p:spPr>
          <a:xfrm>
            <a:off x="9098280" y="2487168"/>
            <a:ext cx="2377440" cy="1234440"/>
          </a:xfrm>
          <a:prstGeom prst="roundRect">
            <a:avLst>
              <a:gd name="adj" fmla="val 5926"/>
            </a:avLst>
          </a:prstGeom>
          <a:solidFill>
            <a:srgbClr val="FFFFFF"/>
          </a:solidFill>
          <a:ln w="12700">
            <a:solidFill>
              <a:srgbClr val="EA580C"/>
            </a:solidFill>
          </a:ln>
        </p:spPr>
        <p:txBody>
          <a:bodyPr wrap="square" lIns="1524" tIns="1524" rIns="1524" bIns="1524" rtlCol="0" anchor="ctr">
            <a:normAutofit/>
          </a:bodyPr>
          <a:lstStyle/>
          <a:p>
            <a:pPr algn="l" indent="0" marL="0">
              <a:buNone/>
            </a:pPr>
            <a:r>
              <a:rPr lang="en-US" sz="1150" dirty="0">
                <a:solidFill>
                  <a:srgbClr val="0F172A"/>
                </a:solidFill>
              </a:rPr>
              <a:t>Parallel pods, live-agent handoff, scale-out operating model, continuous improvement</a:t>
            </a:r>
            <a:endParaRPr lang="en-US" sz="1150" dirty="0"/>
          </a:p>
        </p:txBody>
      </p:sp>
      <p:sp>
        <p:nvSpPr>
          <p:cNvPr id="16" name="Text 14"/>
          <p:cNvSpPr/>
          <p:nvPr/>
        </p:nvSpPr>
        <p:spPr>
          <a:xfrm>
            <a:off x="914400" y="4434840"/>
            <a:ext cx="2743200" cy="256032"/>
          </a:xfrm>
          <a:prstGeom prst="rect">
            <a:avLst/>
          </a:prstGeom>
          <a:noFill/>
          <a:ln/>
        </p:spPr>
        <p:txBody>
          <a:bodyPr wrap="square" lIns="0" tIns="0" rIns="0" bIns="0" rtlCol="0" anchor="ctr"/>
          <a:lstStyle/>
          <a:p>
            <a:pPr indent="0" marL="0">
              <a:buNone/>
            </a:pPr>
            <a:r>
              <a:rPr lang="en-US" sz="1500" b="1" dirty="0">
                <a:solidFill>
                  <a:srgbClr val="0F172A"/>
                </a:solidFill>
              </a:rPr>
              <a:t>MVP staffing pattern</a:t>
            </a:r>
            <a:endParaRPr lang="en-US" sz="1500" dirty="0"/>
          </a:p>
        </p:txBody>
      </p:sp>
      <p:sp>
        <p:nvSpPr>
          <p:cNvPr id="17" name="Text 15"/>
          <p:cNvSpPr/>
          <p:nvPr/>
        </p:nvSpPr>
        <p:spPr>
          <a:xfrm>
            <a:off x="914400" y="4892040"/>
            <a:ext cx="4572000" cy="512064"/>
          </a:xfrm>
          <a:prstGeom prst="roundRect">
            <a:avLst>
              <a:gd name="adj" fmla="val 14286"/>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230" b="1" dirty="0">
                <a:solidFill>
                  <a:srgbClr val="0F172A"/>
                </a:solidFill>
              </a:rPr>
              <a:t>Core platform + dev platform + quality + infra + 1 capability pod</a:t>
            </a:r>
            <a:endParaRPr lang="en-US" sz="1230" dirty="0"/>
          </a:p>
        </p:txBody>
      </p:sp>
      <p:sp>
        <p:nvSpPr>
          <p:cNvPr id="18" name="Text 16"/>
          <p:cNvSpPr/>
          <p:nvPr/>
        </p:nvSpPr>
        <p:spPr>
          <a:xfrm>
            <a:off x="6492240" y="4434840"/>
            <a:ext cx="2743200" cy="256032"/>
          </a:xfrm>
          <a:prstGeom prst="rect">
            <a:avLst/>
          </a:prstGeom>
          <a:noFill/>
          <a:ln/>
        </p:spPr>
        <p:txBody>
          <a:bodyPr wrap="square" lIns="0" tIns="0" rIns="0" bIns="0" rtlCol="0" anchor="ctr"/>
          <a:lstStyle/>
          <a:p>
            <a:pPr indent="0" marL="0">
              <a:buNone/>
            </a:pPr>
            <a:r>
              <a:rPr lang="en-US" sz="1500" b="1" dirty="0">
                <a:solidFill>
                  <a:srgbClr val="0F172A"/>
                </a:solidFill>
              </a:rPr>
              <a:t>Scale staffing pattern</a:t>
            </a:r>
            <a:endParaRPr lang="en-US" sz="1500" dirty="0"/>
          </a:p>
        </p:txBody>
      </p:sp>
      <p:sp>
        <p:nvSpPr>
          <p:cNvPr id="19" name="Text 17"/>
          <p:cNvSpPr/>
          <p:nvPr/>
        </p:nvSpPr>
        <p:spPr>
          <a:xfrm>
            <a:off x="6492240" y="4892040"/>
            <a:ext cx="4572000" cy="512064"/>
          </a:xfrm>
          <a:prstGeom prst="roundRect">
            <a:avLst>
              <a:gd name="adj" fmla="val 14286"/>
            </a:avLst>
          </a:prstGeom>
          <a:solidFill>
            <a:srgbClr val="F1F5F9"/>
          </a:solidFill>
          <a:ln w="12700">
            <a:solidFill>
              <a:srgbClr val="F1F5F9"/>
            </a:solidFill>
          </a:ln>
        </p:spPr>
        <p:txBody>
          <a:bodyPr wrap="square" lIns="1016" tIns="1016" rIns="1016" bIns="1016" rtlCol="0" anchor="ctr">
            <a:normAutofit/>
          </a:bodyPr>
          <a:lstStyle/>
          <a:p>
            <a:pPr algn="ctr" indent="0" marL="0">
              <a:buNone/>
            </a:pPr>
            <a:r>
              <a:rPr lang="en-US" sz="1230" b="1" dirty="0">
                <a:solidFill>
                  <a:srgbClr val="0F172A"/>
                </a:solidFill>
              </a:rPr>
              <a:t>Stable platform teams + multiple capability pods + mature eval/ops</a:t>
            </a:r>
            <a:endParaRPr lang="en-US" sz="1230" dirty="0"/>
          </a:p>
        </p:txBody>
      </p:sp>
      <p:sp>
        <p:nvSpPr>
          <p:cNvPr id="20" name="Text 18"/>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21" name="Text 19"/>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RESOURCE MODEL</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Staffing options for funding discussion</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731520" y="1417320"/>
            <a:ext cx="3383280" cy="502920"/>
          </a:xfrm>
          <a:prstGeom prst="roundRect">
            <a:avLst>
              <a:gd name="adj" fmla="val 14545"/>
            </a:avLst>
          </a:prstGeom>
          <a:solidFill>
            <a:srgbClr val="DBEAFE"/>
          </a:solidFill>
          <a:ln w="12700">
            <a:solidFill>
              <a:srgbClr val="DBEAFE"/>
            </a:solidFill>
          </a:ln>
        </p:spPr>
        <p:txBody>
          <a:bodyPr wrap="square" lIns="1016" tIns="1016" rIns="1016" bIns="1016" rtlCol="0" anchor="ctr">
            <a:normAutofit/>
          </a:bodyPr>
          <a:lstStyle/>
          <a:p>
            <a:pPr algn="ctr" indent="0" marL="0">
              <a:buNone/>
            </a:pPr>
            <a:r>
              <a:rPr lang="en-US" sz="1600" b="1" dirty="0">
                <a:solidFill>
                  <a:srgbClr val="17365D"/>
                </a:solidFill>
              </a:rPr>
              <a:t>Lean MVP</a:t>
            </a:r>
            <a:endParaRPr lang="en-US" sz="1600" dirty="0"/>
          </a:p>
        </p:txBody>
      </p:sp>
      <p:sp>
        <p:nvSpPr>
          <p:cNvPr id="6" name="Text 4"/>
          <p:cNvSpPr/>
          <p:nvPr/>
        </p:nvSpPr>
        <p:spPr>
          <a:xfrm>
            <a:off x="914400" y="2029968"/>
            <a:ext cx="2926080" cy="1463040"/>
          </a:xfrm>
          <a:prstGeom prst="rect">
            <a:avLst/>
          </a:prstGeom>
          <a:noFill/>
          <a:ln/>
        </p:spPr>
        <p:txBody>
          <a:bodyPr wrap="square" lIns="508" tIns="508" rIns="508" bIns="508" rtlCol="0" anchor="ctr">
            <a:normAutofit/>
          </a:bodyPr>
          <a:lstStyle/>
          <a:p>
            <a:r>
              <a:rPr lang="en-US" sz="1280" dirty="0">
                <a:solidFill>
                  <a:srgbClr val="0F172A"/>
                </a:solidFill>
              </a:rPr>
              <a:t>8–12 core contributors</a:t>
            </a:r>
            <a:endParaRPr lang="en-US" sz="1280" dirty="0"/>
          </a:p>
          <a:p>
            <a:r>
              <a:rPr lang="en-US" sz="1280" dirty="0">
                <a:solidFill>
                  <a:srgbClr val="0F172A"/>
                </a:solidFill>
              </a:rPr>
              <a:t>1 capability pod</a:t>
            </a:r>
            <a:endParaRPr lang="en-US" sz="1280" dirty="0"/>
          </a:p>
          <a:p>
            <a:r>
              <a:rPr lang="en-US" sz="1280" dirty="0">
                <a:solidFill>
                  <a:srgbClr val="0F172A"/>
                </a:solidFill>
              </a:rPr>
              <a:t>1–2 pilot capabilities</a:t>
            </a:r>
            <a:endParaRPr lang="en-US" sz="1280" dirty="0"/>
          </a:p>
          <a:p>
            <a:r>
              <a:rPr lang="en-US" sz="1280" dirty="0">
                <a:solidFill>
                  <a:srgbClr val="0F172A"/>
                </a:solidFill>
              </a:rPr>
              <a:t>Good for proof and controlled rollout</a:t>
            </a:r>
            <a:endParaRPr lang="en-US" sz="1280" dirty="0"/>
          </a:p>
        </p:txBody>
      </p:sp>
      <p:sp>
        <p:nvSpPr>
          <p:cNvPr id="7" name="Text 5"/>
          <p:cNvSpPr/>
          <p:nvPr/>
        </p:nvSpPr>
        <p:spPr>
          <a:xfrm>
            <a:off x="4434840" y="1417320"/>
            <a:ext cx="3383280" cy="502920"/>
          </a:xfrm>
          <a:prstGeom prst="roundRect">
            <a:avLst>
              <a:gd name="adj" fmla="val 14545"/>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600" b="1" dirty="0">
                <a:solidFill>
                  <a:srgbClr val="0F766E"/>
                </a:solidFill>
              </a:rPr>
              <a:t>Enterprise launch</a:t>
            </a:r>
            <a:endParaRPr lang="en-US" sz="1600" dirty="0"/>
          </a:p>
        </p:txBody>
      </p:sp>
      <p:sp>
        <p:nvSpPr>
          <p:cNvPr id="8" name="Text 6"/>
          <p:cNvSpPr/>
          <p:nvPr/>
        </p:nvSpPr>
        <p:spPr>
          <a:xfrm>
            <a:off x="4617720" y="2029968"/>
            <a:ext cx="2926080" cy="1463040"/>
          </a:xfrm>
          <a:prstGeom prst="rect">
            <a:avLst/>
          </a:prstGeom>
          <a:noFill/>
          <a:ln/>
        </p:spPr>
        <p:txBody>
          <a:bodyPr wrap="square" lIns="508" tIns="508" rIns="508" bIns="508" rtlCol="0" anchor="ctr">
            <a:normAutofit/>
          </a:bodyPr>
          <a:lstStyle/>
          <a:p>
            <a:r>
              <a:rPr lang="en-US" sz="1280" dirty="0">
                <a:solidFill>
                  <a:srgbClr val="0F172A"/>
                </a:solidFill>
              </a:rPr>
              <a:t>15–22 contributors</a:t>
            </a:r>
            <a:endParaRPr lang="en-US" sz="1280" dirty="0"/>
          </a:p>
          <a:p>
            <a:r>
              <a:rPr lang="en-US" sz="1280" dirty="0">
                <a:solidFill>
                  <a:srgbClr val="0F172A"/>
                </a:solidFill>
              </a:rPr>
              <a:t>2 capability pods</a:t>
            </a:r>
            <a:endParaRPr lang="en-US" sz="1280" dirty="0"/>
          </a:p>
          <a:p>
            <a:r>
              <a:rPr lang="en-US" sz="1280" dirty="0">
                <a:solidFill>
                  <a:srgbClr val="0F172A"/>
                </a:solidFill>
              </a:rPr>
              <a:t>Production eval and observability</a:t>
            </a:r>
            <a:endParaRPr lang="en-US" sz="1280" dirty="0"/>
          </a:p>
          <a:p>
            <a:r>
              <a:rPr lang="en-US" sz="1280" dirty="0">
                <a:solidFill>
                  <a:srgbClr val="0F172A"/>
                </a:solidFill>
              </a:rPr>
              <a:t>Good for first business release</a:t>
            </a:r>
            <a:endParaRPr lang="en-US" sz="1280" dirty="0"/>
          </a:p>
        </p:txBody>
      </p:sp>
      <p:sp>
        <p:nvSpPr>
          <p:cNvPr id="9" name="Text 7"/>
          <p:cNvSpPr/>
          <p:nvPr/>
        </p:nvSpPr>
        <p:spPr>
          <a:xfrm>
            <a:off x="8138160" y="1417320"/>
            <a:ext cx="3383280" cy="502920"/>
          </a:xfrm>
          <a:prstGeom prst="roundRect">
            <a:avLst>
              <a:gd name="adj" fmla="val 14545"/>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600" b="1" dirty="0">
                <a:solidFill>
                  <a:srgbClr val="EA580C"/>
                </a:solidFill>
              </a:rPr>
              <a:t>Scale-out factory</a:t>
            </a:r>
            <a:endParaRPr lang="en-US" sz="1600" dirty="0"/>
          </a:p>
        </p:txBody>
      </p:sp>
      <p:sp>
        <p:nvSpPr>
          <p:cNvPr id="10" name="Text 8"/>
          <p:cNvSpPr/>
          <p:nvPr/>
        </p:nvSpPr>
        <p:spPr>
          <a:xfrm>
            <a:off x="8321040" y="2029968"/>
            <a:ext cx="2926080" cy="1463040"/>
          </a:xfrm>
          <a:prstGeom prst="rect">
            <a:avLst/>
          </a:prstGeom>
          <a:noFill/>
          <a:ln/>
        </p:spPr>
        <p:txBody>
          <a:bodyPr wrap="square" lIns="508" tIns="508" rIns="508" bIns="508" rtlCol="0" anchor="ctr">
            <a:normAutofit/>
          </a:bodyPr>
          <a:lstStyle/>
          <a:p>
            <a:r>
              <a:rPr lang="en-US" sz="1280" dirty="0">
                <a:solidFill>
                  <a:srgbClr val="0F172A"/>
                </a:solidFill>
              </a:rPr>
              <a:t>25–40+ across streams</a:t>
            </a:r>
            <a:endParaRPr lang="en-US" sz="1280" dirty="0"/>
          </a:p>
          <a:p>
            <a:r>
              <a:rPr lang="en-US" sz="1280" dirty="0">
                <a:solidFill>
                  <a:srgbClr val="0F172A"/>
                </a:solidFill>
              </a:rPr>
              <a:t>3+ capability pods</a:t>
            </a:r>
            <a:endParaRPr lang="en-US" sz="1280" dirty="0"/>
          </a:p>
          <a:p>
            <a:r>
              <a:rPr lang="en-US" sz="1280" dirty="0">
                <a:solidFill>
                  <a:srgbClr val="0F172A"/>
                </a:solidFill>
              </a:rPr>
              <a:t>Continuous capability onboarding</a:t>
            </a:r>
            <a:endParaRPr lang="en-US" sz="1280" dirty="0"/>
          </a:p>
          <a:p>
            <a:r>
              <a:rPr lang="en-US" sz="1280" dirty="0">
                <a:solidFill>
                  <a:srgbClr val="0F172A"/>
                </a:solidFill>
              </a:rPr>
              <a:t>Good for enterprise adoption</a:t>
            </a:r>
            <a:endParaRPr lang="en-US" sz="1280" dirty="0"/>
          </a:p>
        </p:txBody>
      </p:sp>
      <p:sp>
        <p:nvSpPr>
          <p:cNvPr id="11" name="Shape 9"/>
          <p:cNvSpPr/>
          <p:nvPr/>
        </p:nvSpPr>
        <p:spPr>
          <a:xfrm>
            <a:off x="1965960" y="4983480"/>
            <a:ext cx="8321040" cy="594360"/>
          </a:xfrm>
          <a:prstGeom prst="roundRect">
            <a:avLst/>
          </a:prstGeom>
          <a:solidFill>
            <a:srgbClr val="FFFFFF"/>
          </a:solidFill>
          <a:ln w="12700">
            <a:solidFill>
              <a:srgbClr val="0F766E"/>
            </a:solidFill>
            <a:prstDash val="solid"/>
          </a:ln>
        </p:spPr>
      </p:sp>
      <p:sp>
        <p:nvSpPr>
          <p:cNvPr id="12" name="Text 10"/>
          <p:cNvSpPr/>
          <p:nvPr/>
        </p:nvSpPr>
        <p:spPr>
          <a:xfrm>
            <a:off x="2148840" y="5102352"/>
            <a:ext cx="7955280" cy="228600"/>
          </a:xfrm>
          <a:prstGeom prst="rect">
            <a:avLst/>
          </a:prstGeom>
          <a:noFill/>
          <a:ln/>
        </p:spPr>
        <p:txBody>
          <a:bodyPr wrap="square" lIns="0" tIns="0" rIns="0" bIns="0" rtlCol="0" anchor="ctr">
            <a:normAutofit/>
          </a:bodyPr>
          <a:lstStyle/>
          <a:p>
            <a:pPr algn="ctr" indent="0" marL="0">
              <a:buNone/>
            </a:pPr>
            <a:r>
              <a:rPr lang="en-US" sz="1420" b="1" dirty="0">
                <a:solidFill>
                  <a:srgbClr val="0F766E"/>
                </a:solidFill>
              </a:rPr>
              <a:t>Fund a stable platform foundation and add capability pods as business demand grows.</a:t>
            </a:r>
            <a:endParaRPr lang="en-US" sz="1420" dirty="0"/>
          </a:p>
        </p:txBody>
      </p:sp>
      <p:sp>
        <p:nvSpPr>
          <p:cNvPr id="13" name="Text 11"/>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4" name="Text 12"/>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19456"/>
            <a:ext cx="5029200" cy="201168"/>
          </a:xfrm>
          <a:prstGeom prst="rect">
            <a:avLst/>
          </a:prstGeom>
          <a:noFill/>
          <a:ln/>
        </p:spPr>
        <p:txBody>
          <a:bodyPr wrap="square" lIns="0" tIns="0" rIns="0" bIns="0" rtlCol="0" anchor="ctr"/>
          <a:lstStyle/>
          <a:p>
            <a:pPr indent="0" marL="0">
              <a:buNone/>
            </a:pPr>
            <a:r>
              <a:rPr lang="en-US" sz="880" b="1" dirty="0">
                <a:solidFill>
                  <a:srgbClr val="2563EB"/>
                </a:solidFill>
                <a:latin typeface="Aptos" pitchFamily="34" charset="0"/>
                <a:ea typeface="Aptos" pitchFamily="34" charset="-122"/>
                <a:cs typeface="Aptos" pitchFamily="34" charset="-120"/>
              </a:rPr>
              <a:t>CLOSE</a:t>
            </a:r>
            <a:endParaRPr lang="en-US" sz="880" dirty="0"/>
          </a:p>
        </p:txBody>
      </p:sp>
      <p:sp>
        <p:nvSpPr>
          <p:cNvPr id="3" name="Text 1"/>
          <p:cNvSpPr/>
          <p:nvPr/>
        </p:nvSpPr>
        <p:spPr>
          <a:xfrm>
            <a:off x="502920" y="475488"/>
            <a:ext cx="10972800" cy="493776"/>
          </a:xfrm>
          <a:prstGeom prst="rect">
            <a:avLst/>
          </a:prstGeom>
          <a:noFill/>
          <a:ln/>
        </p:spPr>
        <p:txBody>
          <a:bodyPr wrap="square" lIns="0" tIns="0" rIns="0" bIns="0" rtlCol="0" anchor="ctr">
            <a:normAutofit/>
          </a:bodyPr>
          <a:lstStyle/>
          <a:p>
            <a:pPr indent="0" marL="0">
              <a:buNone/>
            </a:pPr>
            <a:r>
              <a:rPr lang="en-US" sz="2450" b="1" dirty="0">
                <a:solidFill>
                  <a:srgbClr val="0F172A"/>
                </a:solidFill>
                <a:latin typeface="Aptos Display" pitchFamily="34" charset="0"/>
                <a:ea typeface="Aptos Display" pitchFamily="34" charset="-122"/>
                <a:cs typeface="Aptos Display" pitchFamily="34" charset="-120"/>
              </a:rPr>
              <a:t>Recommended decision</a:t>
            </a:r>
            <a:endParaRPr lang="en-US" sz="2450" dirty="0"/>
          </a:p>
        </p:txBody>
      </p:sp>
      <p:sp>
        <p:nvSpPr>
          <p:cNvPr id="4" name="Shape 2"/>
          <p:cNvSpPr/>
          <p:nvPr/>
        </p:nvSpPr>
        <p:spPr>
          <a:xfrm>
            <a:off x="502920" y="1078992"/>
            <a:ext cx="11155680" cy="0"/>
          </a:xfrm>
          <a:prstGeom prst="line">
            <a:avLst/>
          </a:prstGeom>
          <a:noFill/>
          <a:ln w="10160">
            <a:solidFill>
              <a:srgbClr val="CBD5E1"/>
            </a:solidFill>
            <a:prstDash val="solid"/>
          </a:ln>
        </p:spPr>
      </p:sp>
      <p:sp>
        <p:nvSpPr>
          <p:cNvPr id="5" name="Text 3"/>
          <p:cNvSpPr/>
          <p:nvPr/>
        </p:nvSpPr>
        <p:spPr>
          <a:xfrm>
            <a:off x="914400" y="1463040"/>
            <a:ext cx="10332720" cy="502920"/>
          </a:xfrm>
          <a:prstGeom prst="rect">
            <a:avLst/>
          </a:prstGeom>
          <a:noFill/>
          <a:ln/>
        </p:spPr>
        <p:txBody>
          <a:bodyPr wrap="square" lIns="0" tIns="0" rIns="0" bIns="0" rtlCol="0" anchor="ctr">
            <a:normAutofit/>
          </a:bodyPr>
          <a:lstStyle/>
          <a:p>
            <a:pPr algn="ctr" indent="0" marL="0">
              <a:buNone/>
            </a:pPr>
            <a:r>
              <a:rPr lang="en-US" sz="2400" b="1" dirty="0">
                <a:solidFill>
                  <a:srgbClr val="0F172A"/>
                </a:solidFill>
              </a:rPr>
              <a:t>Approve a platform-led delivery model with parallel capability pods and AI Quality from day one.</a:t>
            </a:r>
            <a:endParaRPr lang="en-US" sz="2400" dirty="0"/>
          </a:p>
        </p:txBody>
      </p:sp>
      <p:sp>
        <p:nvSpPr>
          <p:cNvPr id="6" name="Text 4"/>
          <p:cNvSpPr/>
          <p:nvPr/>
        </p:nvSpPr>
        <p:spPr>
          <a:xfrm>
            <a:off x="868680" y="2651760"/>
            <a:ext cx="3017520" cy="749808"/>
          </a:xfrm>
          <a:prstGeom prst="roundRect">
            <a:avLst>
              <a:gd name="adj" fmla="val 9756"/>
            </a:avLst>
          </a:prstGeom>
          <a:solidFill>
            <a:srgbClr val="CCFBF1"/>
          </a:solidFill>
          <a:ln w="12700">
            <a:solidFill>
              <a:srgbClr val="CCFBF1"/>
            </a:solidFill>
          </a:ln>
        </p:spPr>
        <p:txBody>
          <a:bodyPr wrap="square" lIns="1016" tIns="1016" rIns="1016" bIns="1016" rtlCol="0" anchor="ctr">
            <a:normAutofit/>
          </a:bodyPr>
          <a:lstStyle/>
          <a:p>
            <a:pPr algn="ctr" indent="0" marL="0">
              <a:buNone/>
            </a:pPr>
            <a:r>
              <a:rPr lang="en-US" sz="1400" b="1" dirty="0">
                <a:solidFill>
                  <a:srgbClr val="0F766E"/>
                </a:solidFill>
              </a:rPr>
              <a:t>1. Fund platform foundation</a:t>
            </a:r>
            <a:endParaRPr lang="en-US" sz="1400" dirty="0"/>
          </a:p>
        </p:txBody>
      </p:sp>
      <p:sp>
        <p:nvSpPr>
          <p:cNvPr id="7" name="Text 5"/>
          <p:cNvSpPr/>
          <p:nvPr/>
        </p:nvSpPr>
        <p:spPr>
          <a:xfrm>
            <a:off x="4572000" y="2651760"/>
            <a:ext cx="3017520" cy="749808"/>
          </a:xfrm>
          <a:prstGeom prst="roundRect">
            <a:avLst>
              <a:gd name="adj" fmla="val 9756"/>
            </a:avLst>
          </a:prstGeom>
          <a:solidFill>
            <a:srgbClr val="FEF3C7"/>
          </a:solidFill>
          <a:ln w="12700">
            <a:solidFill>
              <a:srgbClr val="FEF3C7"/>
            </a:solidFill>
          </a:ln>
        </p:spPr>
        <p:txBody>
          <a:bodyPr wrap="square" lIns="1016" tIns="1016" rIns="1016" bIns="1016" rtlCol="0" anchor="ctr">
            <a:normAutofit/>
          </a:bodyPr>
          <a:lstStyle/>
          <a:p>
            <a:pPr algn="ctr" indent="0" marL="0">
              <a:buNone/>
            </a:pPr>
            <a:r>
              <a:rPr lang="en-US" sz="1400" b="1" dirty="0">
                <a:solidFill>
                  <a:srgbClr val="EA580C"/>
                </a:solidFill>
              </a:rPr>
              <a:t>2. Launch first capability pod</a:t>
            </a:r>
            <a:endParaRPr lang="en-US" sz="1400" dirty="0"/>
          </a:p>
        </p:txBody>
      </p:sp>
      <p:sp>
        <p:nvSpPr>
          <p:cNvPr id="8" name="Text 6"/>
          <p:cNvSpPr/>
          <p:nvPr/>
        </p:nvSpPr>
        <p:spPr>
          <a:xfrm>
            <a:off x="8275320" y="2651760"/>
            <a:ext cx="3017520" cy="749808"/>
          </a:xfrm>
          <a:prstGeom prst="roundRect">
            <a:avLst>
              <a:gd name="adj" fmla="val 9756"/>
            </a:avLst>
          </a:prstGeom>
          <a:solidFill>
            <a:srgbClr val="EDE9FE"/>
          </a:solidFill>
          <a:ln w="12700">
            <a:solidFill>
              <a:srgbClr val="EDE9FE"/>
            </a:solidFill>
          </a:ln>
        </p:spPr>
        <p:txBody>
          <a:bodyPr wrap="square" lIns="1016" tIns="1016" rIns="1016" bIns="1016" rtlCol="0" anchor="ctr">
            <a:normAutofit/>
          </a:bodyPr>
          <a:lstStyle/>
          <a:p>
            <a:pPr algn="ctr" indent="0" marL="0">
              <a:buNone/>
            </a:pPr>
            <a:r>
              <a:rPr lang="en-US" sz="1400" b="1" dirty="0">
                <a:solidFill>
                  <a:srgbClr val="7C3AED"/>
                </a:solidFill>
              </a:rPr>
              <a:t>3. Stand up AI Quality + observability</a:t>
            </a:r>
            <a:endParaRPr lang="en-US" sz="1400" dirty="0"/>
          </a:p>
        </p:txBody>
      </p:sp>
      <p:sp>
        <p:nvSpPr>
          <p:cNvPr id="9" name="Text 7"/>
          <p:cNvSpPr/>
          <p:nvPr/>
        </p:nvSpPr>
        <p:spPr>
          <a:xfrm>
            <a:off x="1005840" y="4251960"/>
            <a:ext cx="2194560" cy="274320"/>
          </a:xfrm>
          <a:prstGeom prst="rect">
            <a:avLst/>
          </a:prstGeom>
          <a:noFill/>
          <a:ln/>
        </p:spPr>
        <p:txBody>
          <a:bodyPr wrap="square" lIns="0" tIns="0" rIns="0" bIns="0" rtlCol="0" anchor="ctr"/>
          <a:lstStyle/>
          <a:p>
            <a:pPr indent="0" marL="0">
              <a:buNone/>
            </a:pPr>
            <a:r>
              <a:rPr lang="en-US" sz="1600" b="1" dirty="0">
                <a:solidFill>
                  <a:srgbClr val="0F172A"/>
                </a:solidFill>
              </a:rPr>
              <a:t>Decision needed</a:t>
            </a:r>
            <a:endParaRPr lang="en-US" sz="1600" dirty="0"/>
          </a:p>
        </p:txBody>
      </p:sp>
      <p:sp>
        <p:nvSpPr>
          <p:cNvPr id="10" name="Text 8"/>
          <p:cNvSpPr/>
          <p:nvPr/>
        </p:nvSpPr>
        <p:spPr>
          <a:xfrm>
            <a:off x="1188720" y="4709160"/>
            <a:ext cx="9692640" cy="1143000"/>
          </a:xfrm>
          <a:prstGeom prst="rect">
            <a:avLst/>
          </a:prstGeom>
          <a:noFill/>
          <a:ln/>
        </p:spPr>
        <p:txBody>
          <a:bodyPr wrap="square" lIns="508" tIns="508" rIns="508" bIns="508" rtlCol="0" anchor="ctr">
            <a:normAutofit/>
          </a:bodyPr>
          <a:lstStyle/>
          <a:p>
            <a:r>
              <a:rPr lang="en-US" sz="1430" dirty="0">
                <a:solidFill>
                  <a:srgbClr val="0F172A"/>
                </a:solidFill>
              </a:rPr>
              <a:t>Confirm executive sponsor and business capability owners</a:t>
            </a:r>
            <a:endParaRPr lang="en-US" sz="1430" dirty="0"/>
          </a:p>
          <a:p>
            <a:r>
              <a:rPr lang="en-US" sz="1430" dirty="0">
                <a:solidFill>
                  <a:srgbClr val="0F172A"/>
                </a:solidFill>
              </a:rPr>
              <a:t>Approve Wave 0/1 staffing and funding</a:t>
            </a:r>
            <a:endParaRPr lang="en-US" sz="1430" dirty="0"/>
          </a:p>
          <a:p>
            <a:r>
              <a:rPr lang="en-US" sz="1430" dirty="0">
                <a:solidFill>
                  <a:srgbClr val="0F172A"/>
                </a:solidFill>
              </a:rPr>
              <a:t>Select first pilot capabilities and acceptance metrics</a:t>
            </a:r>
            <a:endParaRPr lang="en-US" sz="1430" dirty="0"/>
          </a:p>
          <a:p>
            <a:r>
              <a:rPr lang="en-US" sz="1430" dirty="0">
                <a:solidFill>
                  <a:srgbClr val="0F172A"/>
                </a:solidFill>
              </a:rPr>
              <a:t>Assign AI COE enablement partners</a:t>
            </a:r>
            <a:endParaRPr lang="en-US" sz="1430" dirty="0"/>
          </a:p>
        </p:txBody>
      </p:sp>
      <p:sp>
        <p:nvSpPr>
          <p:cNvPr id="11" name="Text 9"/>
          <p:cNvSpPr/>
          <p:nvPr/>
        </p:nvSpPr>
        <p:spPr>
          <a:xfrm>
            <a:off x="502920" y="6547104"/>
            <a:ext cx="6400800" cy="164592"/>
          </a:xfrm>
          <a:prstGeom prst="rect">
            <a:avLst/>
          </a:prstGeom>
          <a:noFill/>
          <a:ln/>
        </p:spPr>
        <p:txBody>
          <a:bodyPr wrap="square" lIns="0" tIns="0" rIns="0" bIns="0" rtlCol="0" anchor="ctr"/>
          <a:lstStyle/>
          <a:p>
            <a:pPr indent="0" marL="0">
              <a:buNone/>
            </a:pPr>
            <a:r>
              <a:rPr lang="en-US" sz="750" dirty="0">
                <a:solidFill>
                  <a:srgbClr val="64748B"/>
                </a:solidFill>
              </a:rPr>
              <a:t>Enterprise Conversational AI Platform Operating Model</a:t>
            </a:r>
            <a:endParaRPr lang="en-US" sz="750" dirty="0"/>
          </a:p>
        </p:txBody>
      </p:sp>
      <p:sp>
        <p:nvSpPr>
          <p:cNvPr id="12" name="Text 10"/>
          <p:cNvSpPr/>
          <p:nvPr/>
        </p:nvSpPr>
        <p:spPr>
          <a:xfrm>
            <a:off x="11338560" y="6510528"/>
            <a:ext cx="320040" cy="182880"/>
          </a:xfrm>
          <a:prstGeom prst="rect">
            <a:avLst/>
          </a:prstGeom>
          <a:noFill/>
          <a:ln/>
        </p:spPr>
        <p:txBody>
          <a:bodyPr wrap="square" lIns="0" tIns="0" rIns="0" bIns="0" rtlCol="0" anchor="ctr"/>
          <a:lstStyle/>
          <a:p>
            <a:pPr algn="r" indent="0" marL="0">
              <a:buNone/>
            </a:pPr>
            <a:r>
              <a:rPr lang="en-US" sz="800" dirty="0">
                <a:solidFill>
                  <a:srgbClr val="64748B"/>
                </a:solidFill>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Conversational AI Platform Operating Model</dc:title>
  <dc:subject>Organizational design for an enterprise agentic conversational AI platform</dc:subject>
  <dc:creator>OpenAI</dc:creator>
  <cp:lastModifiedBy>OpenAI</cp:lastModifiedBy>
  <cp:revision>1</cp:revision>
  <dcterms:created xsi:type="dcterms:W3CDTF">2026-09-02T14:20:28Z</dcterms:created>
  <dcterms:modified xsi:type="dcterms:W3CDTF">2026-09-02T14:20:28Z</dcterms:modified>
</cp:coreProperties>
</file>